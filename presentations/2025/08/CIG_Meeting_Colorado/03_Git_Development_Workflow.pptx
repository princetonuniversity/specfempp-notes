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57" r:id="rId2"/>
    <p:sldId id="273" r:id="rId3"/>
    <p:sldId id="286" r:id="rId4"/>
    <p:sldId id="283" r:id="rId5"/>
    <p:sldId id="261" r:id="rId6"/>
    <p:sldId id="262" r:id="rId7"/>
    <p:sldId id="275" r:id="rId8"/>
    <p:sldId id="272" r:id="rId9"/>
    <p:sldId id="266" r:id="rId10"/>
    <p:sldId id="263" r:id="rId11"/>
    <p:sldId id="269" r:id="rId12"/>
    <p:sldId id="267" r:id="rId13"/>
    <p:sldId id="277" r:id="rId14"/>
    <p:sldId id="279" r:id="rId15"/>
    <p:sldId id="282" r:id="rId16"/>
    <p:sldId id="280" r:id="rId17"/>
    <p:sldId id="285" r:id="rId18"/>
    <p:sldId id="28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51"/>
    <p:restoredTop sz="79647"/>
  </p:normalViewPr>
  <p:slideViewPr>
    <p:cSldViewPr snapToGrid="0">
      <p:cViewPr varScale="1">
        <p:scale>
          <a:sx n="108" d="100"/>
          <a:sy n="108" d="100"/>
        </p:scale>
        <p:origin x="23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4910AC-7DE1-394E-B779-2DC5C36F84F6}" type="datetimeFigureOut">
              <a:rPr lang="en-US" smtClean="0"/>
              <a:t>7/29/25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EBF15-7AC0-FA45-99C5-A6E18EA11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97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/>
              <a:t>These tasks are largely independent and only as a final step (Update </a:t>
            </a:r>
            <a:r>
              <a:rPr lang="en-US" dirty="0" err="1"/>
              <a:t>timescheme</a:t>
            </a:r>
            <a:r>
              <a:rPr lang="en-US" dirty="0"/>
              <a:t>), they really all interact. 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implement tests independently for each addition</a:t>
            </a:r>
          </a:p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EBF15-7AC0-FA45-99C5-A6E18EA11E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538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is our stable production branch that tracks releases</a:t>
            </a:r>
          </a:p>
          <a:p>
            <a:r>
              <a:rPr lang="en-US" dirty="0"/>
              <a:t>Devel is the development branch into which ne feature are merged once they are working.</a:t>
            </a:r>
          </a:p>
          <a:p>
            <a:r>
              <a:rPr lang="en-US" dirty="0"/>
              <a:t>Feature could be anything from new visualization tools, to new physics in our case this would be </a:t>
            </a:r>
            <a:r>
              <a:rPr lang="en-US" dirty="0" err="1"/>
              <a:t>poroelastic</a:t>
            </a:r>
            <a:r>
              <a:rPr lang="en-US" dirty="0"/>
              <a:t> media or electromagnetic media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CD9E3-3C77-0840-8EE1-6718BCCBFD7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92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3FA75-D1AE-EC09-F57F-07C1D3B61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1DE65-69B7-B8BB-607A-C06981C0D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FB4757-7912-6528-3E71-49E8F19E9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Hackathon the main branch really is unimportant. </a:t>
            </a:r>
          </a:p>
          <a:p>
            <a:endParaRPr lang="en-US" dirty="0"/>
          </a:p>
          <a:p>
            <a:pPr algn="l"/>
            <a:r>
              <a:rPr lang="en-US" dirty="0"/>
              <a:t>The goal for us is on one branch (or two branches if time permits) to implement PE and merge it into devel once it’s working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And the same for 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CD028-DAEF-67B4-F42E-C56FA70FDA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CD9E3-3C77-0840-8EE1-6718BCCBFD7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59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431AC-36DB-A150-F876-D53E73D10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D97417-02E9-A616-3628-9FC1499A0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D65145-80AD-CD11-64D5-7C87ED289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knows how to fork and clone a </a:t>
            </a:r>
            <a:r>
              <a:rPr lang="en-US" dirty="0" err="1"/>
              <a:t>github</a:t>
            </a:r>
            <a:r>
              <a:rPr lang="en-US" dirty="0"/>
              <a:t> repo to work on it locally?</a:t>
            </a:r>
          </a:p>
          <a:p>
            <a:endParaRPr lang="en-US" dirty="0"/>
          </a:p>
          <a:p>
            <a:r>
              <a:rPr lang="en-US" dirty="0"/>
              <a:t>Fork the code </a:t>
            </a:r>
          </a:p>
          <a:p>
            <a:endParaRPr lang="en-US" dirty="0"/>
          </a:p>
          <a:p>
            <a:r>
              <a:rPr lang="en-US" dirty="0"/>
              <a:t>Clone it </a:t>
            </a:r>
          </a:p>
          <a:p>
            <a:endParaRPr lang="en-US" dirty="0"/>
          </a:p>
          <a:p>
            <a:r>
              <a:rPr lang="en-US" dirty="0"/>
              <a:t>Checkout the PE branch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10EA9-6ABF-9426-948C-9C302581A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CD9E3-3C77-0840-8EE1-6718BCCBFD7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6BE1B-A22C-FD75-1278-13C208B94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897744-C58D-C035-5D76-7770273C5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BD396-EDAF-218E-548C-274082FE6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knows how to fork and clone a </a:t>
            </a:r>
            <a:r>
              <a:rPr lang="en-US" dirty="0" err="1"/>
              <a:t>github</a:t>
            </a:r>
            <a:r>
              <a:rPr lang="en-US" dirty="0"/>
              <a:t> repo to work on it locally?</a:t>
            </a:r>
          </a:p>
          <a:p>
            <a:endParaRPr lang="en-US" dirty="0"/>
          </a:p>
          <a:p>
            <a:r>
              <a:rPr lang="en-US" dirty="0"/>
              <a:t>Fork the code </a:t>
            </a:r>
          </a:p>
          <a:p>
            <a:endParaRPr lang="en-US" dirty="0"/>
          </a:p>
          <a:p>
            <a:r>
              <a:rPr lang="en-US" dirty="0"/>
              <a:t>Clone it </a:t>
            </a:r>
          </a:p>
          <a:p>
            <a:endParaRPr lang="en-US" dirty="0"/>
          </a:p>
          <a:p>
            <a:r>
              <a:rPr lang="en-US" dirty="0"/>
              <a:t>Checkout the PE branch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B9A9C-BE01-D789-28CB-960056DC49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CD9E3-3C77-0840-8EE1-6718BCCBFD7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528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knows how to fork and clone a </a:t>
            </a:r>
            <a:r>
              <a:rPr lang="en-US" dirty="0" err="1"/>
              <a:t>github</a:t>
            </a:r>
            <a:r>
              <a:rPr lang="en-US" dirty="0"/>
              <a:t> repo to work on it locally?</a:t>
            </a:r>
          </a:p>
          <a:p>
            <a:endParaRPr lang="en-US" dirty="0"/>
          </a:p>
          <a:p>
            <a:r>
              <a:rPr lang="en-US" dirty="0"/>
              <a:t>Fork the code </a:t>
            </a:r>
          </a:p>
          <a:p>
            <a:endParaRPr lang="en-US" dirty="0"/>
          </a:p>
          <a:p>
            <a:r>
              <a:rPr lang="en-US" dirty="0"/>
              <a:t>Clone it </a:t>
            </a:r>
          </a:p>
          <a:p>
            <a:endParaRPr lang="en-US" dirty="0"/>
          </a:p>
          <a:p>
            <a:r>
              <a:rPr lang="en-US" dirty="0"/>
              <a:t>Checkout the PE branch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CD9E3-3C77-0840-8EE1-6718BCCBFD7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482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FBCCB-AA0D-30A7-08C8-F20710BC0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2C67A1-A51C-5B62-12A1-A2C38AD02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67BD48-B5DF-F939-3A4D-C4FECBB43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is our stable production branch that tracks releases</a:t>
            </a:r>
          </a:p>
          <a:p>
            <a:r>
              <a:rPr lang="en-US" dirty="0"/>
              <a:t>Devel is the development branch into which ne feature are merged once they are working.</a:t>
            </a:r>
          </a:p>
          <a:p>
            <a:r>
              <a:rPr lang="en-US" dirty="0"/>
              <a:t>Feature could be anything from new visualization tools, to new physics in our case this would be </a:t>
            </a:r>
            <a:r>
              <a:rPr lang="en-US" dirty="0" err="1"/>
              <a:t>poroelastic</a:t>
            </a:r>
            <a:r>
              <a:rPr lang="en-US" dirty="0"/>
              <a:t> media or electromagnetic media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67AA6-F93D-5053-9BDB-60B19CD60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CD9E3-3C77-0840-8EE1-6718BCCBFD7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392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61897-F192-4188-8E2D-EABC00340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CB9AB-D0F2-38D9-5D30-15FF2D5843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2888F-9B12-3120-D014-1823CFCF9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you start working make sure to sync the fork of the branch you plan on working, so that you are up to date.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B92CA-CA0E-E146-1D0C-873011C0E0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CD9E3-3C77-0840-8EE1-6718BCCBFD7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140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958E5-4C7F-B250-EE26-B453AA041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F54100-0C48-2395-B55C-1ADAC45EA3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2D5D62-78AC-F528-CFF1-900ADB07A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knows how to fork and clone a </a:t>
            </a:r>
            <a:r>
              <a:rPr lang="en-US" dirty="0" err="1"/>
              <a:t>github</a:t>
            </a:r>
            <a:r>
              <a:rPr lang="en-US" dirty="0"/>
              <a:t> repo to work on it locally?</a:t>
            </a:r>
          </a:p>
          <a:p>
            <a:endParaRPr lang="en-US" dirty="0"/>
          </a:p>
          <a:p>
            <a:r>
              <a:rPr lang="en-US" dirty="0"/>
              <a:t>Fork the code </a:t>
            </a:r>
          </a:p>
          <a:p>
            <a:endParaRPr lang="en-US" dirty="0"/>
          </a:p>
          <a:p>
            <a:r>
              <a:rPr lang="en-US" dirty="0"/>
              <a:t>Clone it </a:t>
            </a:r>
          </a:p>
          <a:p>
            <a:endParaRPr lang="en-US" dirty="0"/>
          </a:p>
          <a:p>
            <a:r>
              <a:rPr lang="en-US" dirty="0"/>
              <a:t>Checkout the PE branch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5AF95-DEC9-48A8-01F3-38D120096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CD9E3-3C77-0840-8EE1-6718BCCBFD7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569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2DC9A-C3A3-A046-137F-C6D4C0BDF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27DAA0-64A1-403A-6FAE-9E40ABA5B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DB200-5975-FB49-7909-CAA2CC565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knows how to fork and clone a </a:t>
            </a:r>
            <a:r>
              <a:rPr lang="en-US" dirty="0" err="1"/>
              <a:t>github</a:t>
            </a:r>
            <a:r>
              <a:rPr lang="en-US" dirty="0"/>
              <a:t> repo to work on it locally?</a:t>
            </a:r>
          </a:p>
          <a:p>
            <a:endParaRPr lang="en-US" dirty="0"/>
          </a:p>
          <a:p>
            <a:r>
              <a:rPr lang="en-US" dirty="0"/>
              <a:t>Fork the code </a:t>
            </a:r>
          </a:p>
          <a:p>
            <a:endParaRPr lang="en-US" dirty="0"/>
          </a:p>
          <a:p>
            <a:r>
              <a:rPr lang="en-US" dirty="0"/>
              <a:t>Clone it </a:t>
            </a:r>
          </a:p>
          <a:p>
            <a:endParaRPr lang="en-US" dirty="0"/>
          </a:p>
          <a:p>
            <a:r>
              <a:rPr lang="en-US" dirty="0"/>
              <a:t>Checkout the PE branch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4067F-161F-2834-63F5-30048E664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CD9E3-3C77-0840-8EE1-6718BCCBFD7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856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B9DB8-539A-6A30-FF64-04D2CDF67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E0EA4C-5C30-F6EE-BA7C-977FEAD51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DA302D-10AC-856B-D116-78FE68F2B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knows how to fork and clone a </a:t>
            </a:r>
            <a:r>
              <a:rPr lang="en-US" dirty="0" err="1"/>
              <a:t>github</a:t>
            </a:r>
            <a:r>
              <a:rPr lang="en-US" dirty="0"/>
              <a:t> repo to work on it locally?</a:t>
            </a:r>
          </a:p>
          <a:p>
            <a:endParaRPr lang="en-US" dirty="0"/>
          </a:p>
          <a:p>
            <a:r>
              <a:rPr lang="en-US" dirty="0"/>
              <a:t>Fork the code </a:t>
            </a:r>
          </a:p>
          <a:p>
            <a:endParaRPr lang="en-US" dirty="0"/>
          </a:p>
          <a:p>
            <a:r>
              <a:rPr lang="en-US" dirty="0"/>
              <a:t>Clone it </a:t>
            </a:r>
          </a:p>
          <a:p>
            <a:endParaRPr lang="en-US" dirty="0"/>
          </a:p>
          <a:p>
            <a:r>
              <a:rPr lang="en-US" dirty="0"/>
              <a:t>Checkout the PE branch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847F6-766F-84F7-0B6C-C1E0C8764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CD9E3-3C77-0840-8EE1-6718BCCBFD7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9137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26662-C06D-EA85-4F6F-24BA2BF3B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59A865-E2D1-2EE0-B64F-E4F6CED9D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D6A9FC-2152-ED4A-747A-A702578C7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knows how to fork and clone a </a:t>
            </a:r>
            <a:r>
              <a:rPr lang="en-US" dirty="0" err="1"/>
              <a:t>github</a:t>
            </a:r>
            <a:r>
              <a:rPr lang="en-US" dirty="0"/>
              <a:t> repo to work on it locally?</a:t>
            </a:r>
          </a:p>
          <a:p>
            <a:endParaRPr lang="en-US" dirty="0"/>
          </a:p>
          <a:p>
            <a:r>
              <a:rPr lang="en-US" dirty="0"/>
              <a:t>Fork the code </a:t>
            </a:r>
          </a:p>
          <a:p>
            <a:endParaRPr lang="en-US" dirty="0"/>
          </a:p>
          <a:p>
            <a:r>
              <a:rPr lang="en-US" dirty="0"/>
              <a:t>Clone it </a:t>
            </a:r>
          </a:p>
          <a:p>
            <a:endParaRPr lang="en-US" dirty="0"/>
          </a:p>
          <a:p>
            <a:r>
              <a:rPr lang="en-US" dirty="0"/>
              <a:t>Checkout the PE branch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3F519-1369-2894-8D96-6DAC8925D7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CD9E3-3C77-0840-8EE1-6718BCCBFD7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471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6C41E-56A6-F11B-2DB7-ABC330BE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DE60E-91C9-4B87-82D1-4FFDB6510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CF2AE-F082-ED1B-B308-BAFC6A147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knows how to fork and clone a </a:t>
            </a:r>
            <a:r>
              <a:rPr lang="en-US" dirty="0" err="1"/>
              <a:t>github</a:t>
            </a:r>
            <a:r>
              <a:rPr lang="en-US" dirty="0"/>
              <a:t> repo to work on it locally?</a:t>
            </a:r>
          </a:p>
          <a:p>
            <a:endParaRPr lang="en-US" dirty="0"/>
          </a:p>
          <a:p>
            <a:r>
              <a:rPr lang="en-US" dirty="0"/>
              <a:t>Fork the code </a:t>
            </a:r>
          </a:p>
          <a:p>
            <a:endParaRPr lang="en-US" dirty="0"/>
          </a:p>
          <a:p>
            <a:r>
              <a:rPr lang="en-US" dirty="0"/>
              <a:t>Clone it </a:t>
            </a:r>
          </a:p>
          <a:p>
            <a:endParaRPr lang="en-US" dirty="0"/>
          </a:p>
          <a:p>
            <a:r>
              <a:rPr lang="en-US" dirty="0"/>
              <a:t>Checkout the PE branch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32F66-A309-40A6-290B-B09576CDE6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CD9E3-3C77-0840-8EE1-6718BCCBFD7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5247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4DC70-6477-3188-7D7A-FEE97E934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707BB-AC6F-A18C-9B6E-380E08762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3D70B1-EE53-7E61-3DD9-654D14E4C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you start working make sure to sync the fork of the branch you plan on working, so that you are up to date.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E6404-8F54-3284-FF26-C9F08E99C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CD9E3-3C77-0840-8EE1-6718BCCBFD7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114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9EC49-AD31-BCC7-2405-5F381C8D1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BA1327-40E3-E90C-CBE1-ECC306FF0C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78B37-DFA3-CA47-04C5-C06246E9C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4C6722-B180-FC4D-98B4-2862E911E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05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D7B8F-74E8-5065-DE6D-F20E0B15E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837" y="1109183"/>
            <a:ext cx="11622078" cy="50677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D286F-BA73-9DBB-0BED-19FC4BA5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4C6722-B180-FC4D-98B4-2862E911EB1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BC02809-3A02-07C9-6AB7-119E82120CA2}"/>
              </a:ext>
            </a:extLst>
          </p:cNvPr>
          <p:cNvSpPr/>
          <p:nvPr/>
        </p:nvSpPr>
        <p:spPr>
          <a:xfrm>
            <a:off x="6844471" y="194689"/>
            <a:ext cx="4728909" cy="79546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F81380-4938-53A6-EAE9-5073C21EA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2137" y="194690"/>
            <a:ext cx="4721244" cy="795459"/>
          </a:xfrm>
          <a:prstGeom prst="rect">
            <a:avLst/>
          </a:prstGeom>
        </p:spPr>
        <p:txBody>
          <a:bodyPr anchor="ctr"/>
          <a:lstStyle>
            <a:lvl1pPr algn="ctr">
              <a:defRPr sz="2400"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798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7CCE6-6ABD-E08A-B2D0-E096A63C8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99ED2-1335-2A7E-1B3A-4CA4BE6BA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6DCE3-053C-202F-3F0E-1F814BEE8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4C6722-B180-FC4D-98B4-2862E911E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98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3353B-B16E-AB91-377F-E09C04B6C5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8333B5-B669-6DA3-2F01-E140B20A9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75178-E83F-9E6B-3C1E-A49FF647C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3926" y="383748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85BB2-ECBE-AB50-E120-899A583A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4C6722-B180-FC4D-98B4-2862E911EB1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D5A0F7A-5DF9-FBED-762A-39C516A597DF}"/>
              </a:ext>
            </a:extLst>
          </p:cNvPr>
          <p:cNvSpPr/>
          <p:nvPr/>
        </p:nvSpPr>
        <p:spPr>
          <a:xfrm>
            <a:off x="6844471" y="194689"/>
            <a:ext cx="4728909" cy="79546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93092D-A279-6021-BDF2-30CF808C6B1F}"/>
              </a:ext>
            </a:extLst>
          </p:cNvPr>
          <p:cNvSpPr txBox="1">
            <a:spLocks/>
          </p:cNvSpPr>
          <p:nvPr/>
        </p:nvSpPr>
        <p:spPr>
          <a:xfrm>
            <a:off x="6852137" y="194690"/>
            <a:ext cx="4721244" cy="795459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0" i="0" kern="12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72043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21E74-E4B2-7159-FC95-BED49F455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709B8-688C-6785-59F8-AB1D16623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B855D4-BD54-1063-F3C1-067EE35809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6A5F61-55A9-599A-5263-E47A100ECE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876C85-3361-F742-1168-7B0F197B8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4C6722-B180-FC4D-98B4-2862E911E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177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2EDEF-CCA8-1D2D-BF2B-72ADF4206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4C6722-B180-FC4D-98B4-2862E911EB16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74F8C4-9C9D-91B4-E223-15A123BEDE1B}"/>
              </a:ext>
            </a:extLst>
          </p:cNvPr>
          <p:cNvSpPr/>
          <p:nvPr/>
        </p:nvSpPr>
        <p:spPr>
          <a:xfrm>
            <a:off x="0" y="391886"/>
            <a:ext cx="12192000" cy="595666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77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349F0-A574-65A1-4E59-D048FACFC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4C6722-B180-FC4D-98B4-2862E911E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082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C43CE-15A6-2D5B-79DA-4E9A89D28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168701"/>
            <a:ext cx="6172200" cy="46923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11B22-014E-E2EF-D897-ABF4AB403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168701"/>
            <a:ext cx="3932237" cy="47002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338FA-1303-2C79-A325-2B09F19AF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4C6722-B180-FC4D-98B4-2862E911EB1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F912C08-4DA6-5485-66FB-D57B58878F5A}"/>
              </a:ext>
            </a:extLst>
          </p:cNvPr>
          <p:cNvSpPr/>
          <p:nvPr/>
        </p:nvSpPr>
        <p:spPr>
          <a:xfrm>
            <a:off x="6844471" y="194689"/>
            <a:ext cx="4728909" cy="79546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BFD626C-B64F-147E-DBA3-335686016CB5}"/>
              </a:ext>
            </a:extLst>
          </p:cNvPr>
          <p:cNvSpPr txBox="1">
            <a:spLocks/>
          </p:cNvSpPr>
          <p:nvPr/>
        </p:nvSpPr>
        <p:spPr>
          <a:xfrm>
            <a:off x="6852137" y="194690"/>
            <a:ext cx="4721244" cy="795459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400" b="0" i="0" kern="12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092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BFCD284-6EC6-15B7-4E8F-BB8B31B75DE8}"/>
              </a:ext>
            </a:extLst>
          </p:cNvPr>
          <p:cNvSpPr/>
          <p:nvPr/>
        </p:nvSpPr>
        <p:spPr>
          <a:xfrm>
            <a:off x="6844471" y="194689"/>
            <a:ext cx="4728909" cy="79546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AB477C-A3E9-CBBF-D764-5482FE141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52469"/>
            <a:ext cx="6172200" cy="47085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61DFD-FBF5-2E21-137F-B6E8321B7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152469"/>
            <a:ext cx="3932237" cy="47165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8B800-0AF3-F9DB-387A-CD45B3F87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4C6722-B180-FC4D-98B4-2862E911E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96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4432F8-9E1C-B974-3218-DB9FDE394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114594"/>
            <a:ext cx="10515600" cy="50623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81EC8-5B84-F659-E44B-58D4A9BC0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4C6722-B180-FC4D-98B4-2862E911EB1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0019AC4-341C-8B40-075B-76AB4094CC12}"/>
              </a:ext>
            </a:extLst>
          </p:cNvPr>
          <p:cNvSpPr/>
          <p:nvPr/>
        </p:nvSpPr>
        <p:spPr>
          <a:xfrm>
            <a:off x="6844471" y="194689"/>
            <a:ext cx="4728909" cy="79546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65F2C2-C854-7AB8-B72B-B39EFFB67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2137" y="194690"/>
            <a:ext cx="4721244" cy="795459"/>
          </a:xfrm>
          <a:prstGeom prst="rect">
            <a:avLst/>
          </a:prstGeom>
        </p:spPr>
        <p:txBody>
          <a:bodyPr anchor="ctr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30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6D7530-5DAF-1772-EA84-C3CC2BF0E3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6FCC23-DF2B-EC28-4BAB-7DD45BBA2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D4CD5-312B-6BA7-4852-9EE8524B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4C6722-B180-FC4D-98B4-2862E911E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456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65653A8-84B2-D8CA-004F-16352ACCB8BE}"/>
              </a:ext>
            </a:extLst>
          </p:cNvPr>
          <p:cNvSpPr/>
          <p:nvPr/>
        </p:nvSpPr>
        <p:spPr>
          <a:xfrm>
            <a:off x="0" y="6349399"/>
            <a:ext cx="12192000" cy="5086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33642-F412-09DD-1C35-990B5A355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5A915-ED34-9A57-3EE3-1ECF7A3EC7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3502" y="642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C6722-B180-FC4D-98B4-2862E911EB16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107;p17" descr="Google Shape;107;p17">
            <a:extLst>
              <a:ext uri="{FF2B5EF4-FFF2-40B4-BE49-F238E27FC236}">
                <a16:creationId xmlns:a16="http://schemas.microsoft.com/office/drawing/2014/main" id="{4B077A54-5F2C-9868-733B-772D77E0E51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365575"/>
            <a:ext cx="3105714" cy="48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32F0F8-F501-9510-641D-6BDAC90F73B0}"/>
              </a:ext>
            </a:extLst>
          </p:cNvPr>
          <p:cNvSpPr/>
          <p:nvPr/>
        </p:nvSpPr>
        <p:spPr>
          <a:xfrm>
            <a:off x="0" y="0"/>
            <a:ext cx="12192000" cy="5086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272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pecfem2d-kokkos.readthedocs.io/en/devel/sections/developer_documentation/git_workflow.html#git-development-workflow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git@github.com:PrincetonUniversity/SPECFEMPP.git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13946-B562-39D3-3D9C-00B7575BC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0317" y="2220361"/>
            <a:ext cx="10531366" cy="1347738"/>
          </a:xfrm>
        </p:spPr>
        <p:txBody>
          <a:bodyPr anchor="ctr"/>
          <a:lstStyle/>
          <a:p>
            <a:r>
              <a:rPr lang="en-US" dirty="0"/>
              <a:t>SPECFEM++</a:t>
            </a:r>
            <a:br>
              <a:rPr lang="en-US" dirty="0"/>
            </a:br>
            <a:r>
              <a:rPr lang="en-US" sz="4800" dirty="0"/>
              <a:t>Git Development Workflow</a:t>
            </a:r>
            <a:endParaRPr lang="en-US" sz="4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1D7591-60EF-2494-620A-9ED2F18C4A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6258"/>
            <a:ext cx="9144000" cy="71688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Rohit Kakodkar,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Congyue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Cui &amp; Lucas Sawade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Research Computing/Geosciences Department</a:t>
            </a:r>
          </a:p>
          <a:p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" name="Picture 3" descr="A picture containing logo&#10;&#10;Description automatically generated">
            <a:extLst>
              <a:ext uri="{FF2B5EF4-FFF2-40B4-BE49-F238E27FC236}">
                <a16:creationId xmlns:a16="http://schemas.microsoft.com/office/drawing/2014/main" id="{78D597C4-090D-9B69-66AE-8A921AE43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7059" y="5088837"/>
            <a:ext cx="1109643" cy="1210520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C8D0418-DC2A-6F9D-FC1A-8F9C6622D6CE}"/>
              </a:ext>
            </a:extLst>
          </p:cNvPr>
          <p:cNvSpPr/>
          <p:nvPr/>
        </p:nvSpPr>
        <p:spPr>
          <a:xfrm>
            <a:off x="159025" y="357809"/>
            <a:ext cx="2635291" cy="34077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prstClr val="black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CIG Meeting, Breckenridge, 2025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E4AF939-75D1-9FE8-9DE7-4AAA4B047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98" y="5088837"/>
            <a:ext cx="1155619" cy="115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37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B2B5FB-263B-E3DD-936E-0DCFCEA46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D0F430-DEE6-4C59-9AA7-B3C1BB23140F}"/>
              </a:ext>
            </a:extLst>
          </p:cNvPr>
          <p:cNvSpPr txBox="1"/>
          <p:nvPr/>
        </p:nvSpPr>
        <p:spPr>
          <a:xfrm>
            <a:off x="618619" y="713150"/>
            <a:ext cx="2396966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dirty="0"/>
              <a:t>Git Dev Workflow: </a:t>
            </a:r>
            <a:r>
              <a:rPr lang="en-US" dirty="0">
                <a:hlinkClick r:id="rId2"/>
              </a:rPr>
              <a:t>Docs</a:t>
            </a:r>
            <a:endParaRPr lang="en-US" dirty="0"/>
          </a:p>
        </p:txBody>
      </p:sp>
      <p:pic>
        <p:nvPicPr>
          <p:cNvPr id="10" name="Picture 9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AC21A98-595C-14D9-EEE2-7784BC6A9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293672"/>
            <a:ext cx="7772400" cy="48511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85460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B1EAD-6E9A-A267-5E09-FD184F057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08C14D-4538-24EB-426F-E2C3588EE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 new medium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EB697-89E8-3691-7E72-3E23C4B8E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187" y="1234308"/>
            <a:ext cx="10677626" cy="4473469"/>
          </a:xfrm>
        </p:spPr>
        <p:txBody>
          <a:bodyPr>
            <a:normAutofit fontScale="92500" lnSpcReduction="10000"/>
          </a:bodyPr>
          <a:lstStyle/>
          <a:p>
            <a:pPr lvl="1">
              <a:lnSpc>
                <a:spcPct val="150000"/>
              </a:lnSpc>
              <a:buSzPct val="150000"/>
              <a:buFont typeface="Courier New" panose="02070309020205020404" pitchFamily="49" charset="0"/>
              <a:buChar char="o"/>
            </a:pPr>
            <a:r>
              <a:rPr lang="en-US" dirty="0"/>
              <a:t> Add tags</a:t>
            </a:r>
          </a:p>
          <a:p>
            <a:pPr lvl="1">
              <a:lnSpc>
                <a:spcPct val="150000"/>
              </a:lnSpc>
              <a:buSzPct val="150000"/>
              <a:buFont typeface="Courier New" panose="02070309020205020404" pitchFamily="49" charset="0"/>
              <a:buChar char="o"/>
            </a:pPr>
            <a:r>
              <a:rPr lang="en-US" dirty="0"/>
              <a:t> Add properties</a:t>
            </a:r>
          </a:p>
          <a:p>
            <a:pPr lvl="1">
              <a:lnSpc>
                <a:spcPct val="150000"/>
              </a:lnSpc>
              <a:buSzPct val="150000"/>
              <a:buFont typeface="Courier New" panose="02070309020205020404" pitchFamily="49" charset="0"/>
              <a:buChar char="o"/>
            </a:pPr>
            <a:r>
              <a:rPr lang="en-US" dirty="0"/>
              <a:t> Add mass matrix computation</a:t>
            </a:r>
          </a:p>
          <a:p>
            <a:pPr lvl="1">
              <a:lnSpc>
                <a:spcPct val="150000"/>
              </a:lnSpc>
              <a:buSzPct val="150000"/>
              <a:buFont typeface="Courier New" panose="02070309020205020404" pitchFamily="49" charset="0"/>
              <a:buChar char="o"/>
            </a:pPr>
            <a:r>
              <a:rPr lang="en-US" dirty="0"/>
              <a:t> Add seismogram/wavefield computation</a:t>
            </a:r>
          </a:p>
          <a:p>
            <a:pPr lvl="1">
              <a:lnSpc>
                <a:spcPct val="150000"/>
              </a:lnSpc>
              <a:buSzPct val="150000"/>
              <a:buFont typeface="Courier New" panose="02070309020205020404" pitchFamily="49" charset="0"/>
              <a:buChar char="o"/>
            </a:pPr>
            <a:r>
              <a:rPr lang="en-US" dirty="0"/>
              <a:t> Add source computation</a:t>
            </a:r>
          </a:p>
          <a:p>
            <a:pPr lvl="1">
              <a:lnSpc>
                <a:spcPct val="150000"/>
              </a:lnSpc>
              <a:buSzPct val="150000"/>
              <a:buFont typeface="Courier New" panose="02070309020205020404" pitchFamily="49" charset="0"/>
              <a:buChar char="o"/>
            </a:pPr>
            <a:r>
              <a:rPr lang="en-US" dirty="0"/>
              <a:t> Add stress computation </a:t>
            </a:r>
          </a:p>
          <a:p>
            <a:pPr lvl="1">
              <a:lnSpc>
                <a:spcPct val="150000"/>
              </a:lnSpc>
              <a:buSzPct val="150000"/>
              <a:buFont typeface="Courier New" panose="02070309020205020404" pitchFamily="49" charset="0"/>
              <a:buChar char="o"/>
            </a:pPr>
            <a:r>
              <a:rPr lang="en-US" dirty="0"/>
              <a:t> Update </a:t>
            </a:r>
            <a:r>
              <a:rPr lang="en-US" dirty="0" err="1"/>
              <a:t>timescheme</a:t>
            </a:r>
            <a:endParaRPr lang="en-US" dirty="0"/>
          </a:p>
          <a:p>
            <a:pPr lvl="1">
              <a:lnSpc>
                <a:spcPct val="150000"/>
              </a:lnSpc>
              <a:buSzPct val="150000"/>
              <a:buFont typeface="Courier New" panose="02070309020205020404" pitchFamily="49" charset="0"/>
              <a:buChar char="o"/>
            </a:pPr>
            <a:r>
              <a:rPr lang="en-US" dirty="0"/>
              <a:t> [Optional] Add integration test</a:t>
            </a:r>
          </a:p>
        </p:txBody>
      </p:sp>
    </p:spTree>
    <p:extLst>
      <p:ext uri="{BB962C8B-B14F-4D97-AF65-F5344CB8AC3E}">
        <p14:creationId xmlns:p14="http://schemas.microsoft.com/office/powerpoint/2010/main" val="1718327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4F1DB-D74F-C79C-0F7A-5F8CB5041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235AD9-F7A6-162C-60FC-80EA4B286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this workflow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C4B3A89-165C-DA52-1075-04E2B6322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187" y="1234308"/>
            <a:ext cx="10677626" cy="4473469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Synchronizing work if multiple people work towards a single feature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Minimizing merge conflicts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Keep work that is otherwise lost to the </a:t>
            </a:r>
            <a:r>
              <a:rPr lang="en-US" dirty="0" err="1"/>
              <a:t>Github</a:t>
            </a:r>
            <a:r>
              <a:rPr lang="en-US" dirty="0"/>
              <a:t> fork void and out of sync with the original repo</a:t>
            </a:r>
          </a:p>
        </p:txBody>
      </p:sp>
    </p:spTree>
    <p:extLst>
      <p:ext uri="{BB962C8B-B14F-4D97-AF65-F5344CB8AC3E}">
        <p14:creationId xmlns:p14="http://schemas.microsoft.com/office/powerpoint/2010/main" val="4046383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E04C11F0-3A9E-24F1-1160-8A2EA2FFCFBB}"/>
              </a:ext>
            </a:extLst>
          </p:cNvPr>
          <p:cNvGrpSpPr/>
          <p:nvPr/>
        </p:nvGrpSpPr>
        <p:grpSpPr>
          <a:xfrm>
            <a:off x="6092945" y="3775950"/>
            <a:ext cx="3508249" cy="2327816"/>
            <a:chOff x="2584702" y="2724912"/>
            <a:chExt cx="3383276" cy="2327816"/>
          </a:xfrm>
        </p:grpSpPr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BB894E26-3274-5F0D-2D81-4CCA2C57B71A}"/>
                </a:ext>
              </a:extLst>
            </p:cNvPr>
            <p:cNvSpPr/>
            <p:nvPr/>
          </p:nvSpPr>
          <p:spPr>
            <a:xfrm rot="10800000">
              <a:off x="2584703" y="2724912"/>
              <a:ext cx="3383275" cy="1163908"/>
            </a:xfrm>
            <a:prstGeom prst="arc">
              <a:avLst/>
            </a:prstGeom>
            <a:ln w="635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1BBA9736-E5E5-FFAF-831F-4892B6996E87}"/>
                </a:ext>
              </a:extLst>
            </p:cNvPr>
            <p:cNvSpPr/>
            <p:nvPr/>
          </p:nvSpPr>
          <p:spPr>
            <a:xfrm rot="10800000" flipH="1" flipV="1">
              <a:off x="2584702" y="3888820"/>
              <a:ext cx="3383275" cy="1163908"/>
            </a:xfrm>
            <a:prstGeom prst="arc">
              <a:avLst/>
            </a:prstGeom>
            <a:ln w="635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1EB49AA-D42C-73A6-9E59-06DC6F1B99C6}"/>
              </a:ext>
            </a:extLst>
          </p:cNvPr>
          <p:cNvGrpSpPr/>
          <p:nvPr/>
        </p:nvGrpSpPr>
        <p:grpSpPr>
          <a:xfrm>
            <a:off x="2584700" y="2200624"/>
            <a:ext cx="3508249" cy="2327816"/>
            <a:chOff x="2584702" y="2724912"/>
            <a:chExt cx="3383276" cy="2327816"/>
          </a:xfrm>
        </p:grpSpPr>
        <p:sp>
          <p:nvSpPr>
            <p:cNvPr id="43" name="Arc 42">
              <a:extLst>
                <a:ext uri="{FF2B5EF4-FFF2-40B4-BE49-F238E27FC236}">
                  <a16:creationId xmlns:a16="http://schemas.microsoft.com/office/drawing/2014/main" id="{DEA8DE97-C6C2-92B4-BCA2-D593C9FD0780}"/>
                </a:ext>
              </a:extLst>
            </p:cNvPr>
            <p:cNvSpPr/>
            <p:nvPr/>
          </p:nvSpPr>
          <p:spPr>
            <a:xfrm rot="10800000">
              <a:off x="2584703" y="2724912"/>
              <a:ext cx="3383275" cy="1163908"/>
            </a:xfrm>
            <a:prstGeom prst="arc">
              <a:avLst/>
            </a:prstGeom>
            <a:ln w="635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7E440613-5C4E-F45E-5876-1A2622D2A8C8}"/>
                </a:ext>
              </a:extLst>
            </p:cNvPr>
            <p:cNvSpPr/>
            <p:nvPr/>
          </p:nvSpPr>
          <p:spPr>
            <a:xfrm rot="10800000" flipH="1" flipV="1">
              <a:off x="2584702" y="3888820"/>
              <a:ext cx="3383275" cy="1163908"/>
            </a:xfrm>
            <a:prstGeom prst="arc">
              <a:avLst/>
            </a:prstGeom>
            <a:ln w="635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4C4ACAF-819E-316C-8A5B-B350E3290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Structure in SPECFEM++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1AB630C-2556-E821-D14D-5D831360A948}"/>
              </a:ext>
            </a:extLst>
          </p:cNvPr>
          <p:cNvCxnSpPr>
            <a:cxnSpLocks/>
          </p:cNvCxnSpPr>
          <p:nvPr/>
        </p:nvCxnSpPr>
        <p:spPr>
          <a:xfrm flipH="1" flipV="1">
            <a:off x="2584699" y="2298296"/>
            <a:ext cx="5" cy="3379176"/>
          </a:xfrm>
          <a:prstGeom prst="straightConnector1">
            <a:avLst/>
          </a:prstGeom>
          <a:ln w="63500"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9AEA5AA-95C2-2E0D-D337-6D70CE9923DD}"/>
              </a:ext>
            </a:extLst>
          </p:cNvPr>
          <p:cNvCxnSpPr>
            <a:cxnSpLocks/>
          </p:cNvCxnSpPr>
          <p:nvPr/>
        </p:nvCxnSpPr>
        <p:spPr>
          <a:xfrm flipH="1" flipV="1">
            <a:off x="6092945" y="1835206"/>
            <a:ext cx="7" cy="3842266"/>
          </a:xfrm>
          <a:prstGeom prst="straightConnector1">
            <a:avLst/>
          </a:prstGeom>
          <a:ln w="63500">
            <a:solidFill>
              <a:schemeClr val="accent6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24EF9E-0B93-EEE4-0B25-0AD22455CEE9}"/>
              </a:ext>
            </a:extLst>
          </p:cNvPr>
          <p:cNvCxnSpPr>
            <a:cxnSpLocks/>
          </p:cNvCxnSpPr>
          <p:nvPr/>
        </p:nvCxnSpPr>
        <p:spPr>
          <a:xfrm flipV="1">
            <a:off x="9601200" y="1555668"/>
            <a:ext cx="0" cy="4121804"/>
          </a:xfrm>
          <a:prstGeom prst="straightConnector1">
            <a:avLst/>
          </a:prstGeom>
          <a:ln w="63500">
            <a:solidFill>
              <a:schemeClr val="tx2">
                <a:lumMod val="50000"/>
                <a:lumOff val="50000"/>
              </a:schemeClr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0BD9ACD-F1AF-D25B-9A71-01E024E13A33}"/>
              </a:ext>
            </a:extLst>
          </p:cNvPr>
          <p:cNvSpPr txBox="1"/>
          <p:nvPr/>
        </p:nvSpPr>
        <p:spPr>
          <a:xfrm>
            <a:off x="164591" y="3519488"/>
            <a:ext cx="80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C7BA4E-82FB-7C75-FF5B-401CF8564FAD}"/>
              </a:ext>
            </a:extLst>
          </p:cNvPr>
          <p:cNvSpPr txBox="1"/>
          <p:nvPr/>
        </p:nvSpPr>
        <p:spPr>
          <a:xfrm>
            <a:off x="5372102" y="6286866"/>
            <a:ext cx="1441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Branch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28D0F7-79D7-9A9F-603C-BB21BCE9FC42}"/>
              </a:ext>
            </a:extLst>
          </p:cNvPr>
          <p:cNvSpPr txBox="1"/>
          <p:nvPr/>
        </p:nvSpPr>
        <p:spPr>
          <a:xfrm>
            <a:off x="2709676" y="1908358"/>
            <a:ext cx="765044" cy="377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A4759A-C37F-21F1-C0FD-E6FC8F38B3FF}"/>
              </a:ext>
            </a:extLst>
          </p:cNvPr>
          <p:cNvSpPr txBox="1"/>
          <p:nvPr/>
        </p:nvSpPr>
        <p:spPr>
          <a:xfrm>
            <a:off x="6217923" y="1524000"/>
            <a:ext cx="765044" cy="377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devel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037276-4D90-2FAB-D8CB-15B5B6F8F95E}"/>
              </a:ext>
            </a:extLst>
          </p:cNvPr>
          <p:cNvSpPr txBox="1"/>
          <p:nvPr/>
        </p:nvSpPr>
        <p:spPr>
          <a:xfrm>
            <a:off x="9759696" y="1295400"/>
            <a:ext cx="993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</a:t>
            </a:r>
          </a:p>
        </p:txBody>
      </p:sp>
    </p:spTree>
    <p:extLst>
      <p:ext uri="{BB962C8B-B14F-4D97-AF65-F5344CB8AC3E}">
        <p14:creationId xmlns:p14="http://schemas.microsoft.com/office/powerpoint/2010/main" val="2259102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B44E0-2DA4-146A-D96D-16392CA01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0A39A7B5-9BA9-B8DE-E362-A6488C6D2403}"/>
              </a:ext>
            </a:extLst>
          </p:cNvPr>
          <p:cNvGrpSpPr/>
          <p:nvPr/>
        </p:nvGrpSpPr>
        <p:grpSpPr>
          <a:xfrm>
            <a:off x="5244773" y="3056882"/>
            <a:ext cx="3508249" cy="2327816"/>
            <a:chOff x="2584702" y="2724912"/>
            <a:chExt cx="3383276" cy="2327816"/>
          </a:xfrm>
        </p:grpSpPr>
        <p:sp>
          <p:nvSpPr>
            <p:cNvPr id="43" name="Arc 42">
              <a:extLst>
                <a:ext uri="{FF2B5EF4-FFF2-40B4-BE49-F238E27FC236}">
                  <a16:creationId xmlns:a16="http://schemas.microsoft.com/office/drawing/2014/main" id="{2C7AF638-6DD2-11D9-73BB-3FF93BDCB011}"/>
                </a:ext>
              </a:extLst>
            </p:cNvPr>
            <p:cNvSpPr/>
            <p:nvPr/>
          </p:nvSpPr>
          <p:spPr>
            <a:xfrm rot="10800000">
              <a:off x="2584703" y="2724912"/>
              <a:ext cx="3383275" cy="1163908"/>
            </a:xfrm>
            <a:prstGeom prst="arc">
              <a:avLst/>
            </a:prstGeom>
            <a:ln w="635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0F0FBA06-2086-0D71-EEC5-7260B11E7251}"/>
                </a:ext>
              </a:extLst>
            </p:cNvPr>
            <p:cNvSpPr/>
            <p:nvPr/>
          </p:nvSpPr>
          <p:spPr>
            <a:xfrm rot="10800000" flipH="1" flipV="1">
              <a:off x="2584702" y="3888820"/>
              <a:ext cx="3383275" cy="1163908"/>
            </a:xfrm>
            <a:prstGeom prst="arc">
              <a:avLst/>
            </a:prstGeom>
            <a:ln w="635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A6E800-DAD6-3998-F3D9-DC91BE82A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Structure in SPECFEM++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910DB23-B650-6F7E-7AD8-0059D8AE958A}"/>
              </a:ext>
            </a:extLst>
          </p:cNvPr>
          <p:cNvCxnSpPr>
            <a:cxnSpLocks/>
          </p:cNvCxnSpPr>
          <p:nvPr/>
        </p:nvCxnSpPr>
        <p:spPr>
          <a:xfrm flipH="1" flipV="1">
            <a:off x="5244770" y="2149434"/>
            <a:ext cx="7" cy="3171778"/>
          </a:xfrm>
          <a:prstGeom prst="straightConnector1">
            <a:avLst/>
          </a:prstGeom>
          <a:ln w="63500">
            <a:solidFill>
              <a:schemeClr val="accent6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2DE8D0F-E5F2-6E0D-69CC-BAC4A392D3E3}"/>
              </a:ext>
            </a:extLst>
          </p:cNvPr>
          <p:cNvCxnSpPr>
            <a:cxnSpLocks/>
          </p:cNvCxnSpPr>
          <p:nvPr/>
        </p:nvCxnSpPr>
        <p:spPr>
          <a:xfrm flipV="1">
            <a:off x="8753025" y="1663612"/>
            <a:ext cx="0" cy="3657600"/>
          </a:xfrm>
          <a:prstGeom prst="straightConnector1">
            <a:avLst/>
          </a:prstGeom>
          <a:ln w="63500">
            <a:solidFill>
              <a:schemeClr val="tx2">
                <a:lumMod val="50000"/>
                <a:lumOff val="50000"/>
              </a:schemeClr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DE6E814-111D-3E32-173F-83A8A991896F}"/>
              </a:ext>
            </a:extLst>
          </p:cNvPr>
          <p:cNvSpPr txBox="1"/>
          <p:nvPr/>
        </p:nvSpPr>
        <p:spPr>
          <a:xfrm>
            <a:off x="2824664" y="3163228"/>
            <a:ext cx="80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46D140-3E6B-0D5B-D9E7-CB4712CCAB30}"/>
              </a:ext>
            </a:extLst>
          </p:cNvPr>
          <p:cNvSpPr txBox="1"/>
          <p:nvPr/>
        </p:nvSpPr>
        <p:spPr>
          <a:xfrm>
            <a:off x="5372102" y="6286866"/>
            <a:ext cx="1441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Branch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4BBE26-3DD7-E574-8577-BFE904B0A250}"/>
              </a:ext>
            </a:extLst>
          </p:cNvPr>
          <p:cNvSpPr txBox="1"/>
          <p:nvPr/>
        </p:nvSpPr>
        <p:spPr>
          <a:xfrm>
            <a:off x="5369749" y="1933098"/>
            <a:ext cx="765044" cy="377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devel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BD1C37-86C6-9BE3-371C-8A63BF95DE13}"/>
              </a:ext>
            </a:extLst>
          </p:cNvPr>
          <p:cNvSpPr txBox="1"/>
          <p:nvPr/>
        </p:nvSpPr>
        <p:spPr>
          <a:xfrm>
            <a:off x="8877995" y="1564394"/>
            <a:ext cx="1691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3C09080-7E0E-5598-8C4C-C88B102AF32E}"/>
              </a:ext>
            </a:extLst>
          </p:cNvPr>
          <p:cNvCxnSpPr>
            <a:cxnSpLocks/>
          </p:cNvCxnSpPr>
          <p:nvPr/>
        </p:nvCxnSpPr>
        <p:spPr>
          <a:xfrm flipV="1">
            <a:off x="3909754" y="2351314"/>
            <a:ext cx="0" cy="2969898"/>
          </a:xfrm>
          <a:prstGeom prst="straightConnector1">
            <a:avLst/>
          </a:prstGeom>
          <a:ln w="63500"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6FC43F6-3F3A-EEDA-1EDE-7D2C886A7BBB}"/>
              </a:ext>
            </a:extLst>
          </p:cNvPr>
          <p:cNvSpPr txBox="1"/>
          <p:nvPr/>
        </p:nvSpPr>
        <p:spPr>
          <a:xfrm>
            <a:off x="4034726" y="2161698"/>
            <a:ext cx="765044" cy="377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6D7753-5189-E7D8-311B-27245B4B0FA3}"/>
              </a:ext>
            </a:extLst>
          </p:cNvPr>
          <p:cNvSpPr txBox="1"/>
          <p:nvPr/>
        </p:nvSpPr>
        <p:spPr>
          <a:xfrm>
            <a:off x="6238436" y="3821931"/>
            <a:ext cx="263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Merge Working feature</a:t>
            </a:r>
          </a:p>
        </p:txBody>
      </p:sp>
    </p:spTree>
    <p:extLst>
      <p:ext uri="{BB962C8B-B14F-4D97-AF65-F5344CB8AC3E}">
        <p14:creationId xmlns:p14="http://schemas.microsoft.com/office/powerpoint/2010/main" val="2737090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E07BE-0380-8080-48E2-7DD6FCD5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641FE7-B67C-BE58-469E-27E1C3EA1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180" y="1600200"/>
            <a:ext cx="7711640" cy="4267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1259AA-5E1B-AAF4-D062-BBC5DC400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the code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1C36C6-4865-F2D7-CF71-850E4E77EE72}"/>
              </a:ext>
            </a:extLst>
          </p:cNvPr>
          <p:cNvSpPr/>
          <p:nvPr/>
        </p:nvSpPr>
        <p:spPr>
          <a:xfrm>
            <a:off x="7391400" y="2362200"/>
            <a:ext cx="1352550" cy="457200"/>
          </a:xfrm>
          <a:prstGeom prst="rect">
            <a:avLst/>
          </a:prstGeom>
          <a:noFill/>
          <a:ln w="857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94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AFD06-9864-2E74-A31A-07C5C9441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68891-1F48-2A0E-F633-8E683B6A1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the code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701671-2039-7F45-5044-980B46660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100" y="1346200"/>
            <a:ext cx="7035800" cy="416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56E5E06-D6A7-D430-C8A9-8EE03D29930D}"/>
              </a:ext>
            </a:extLst>
          </p:cNvPr>
          <p:cNvSpPr/>
          <p:nvPr/>
        </p:nvSpPr>
        <p:spPr>
          <a:xfrm>
            <a:off x="3428999" y="4586799"/>
            <a:ext cx="530881" cy="442401"/>
          </a:xfrm>
          <a:prstGeom prst="rect">
            <a:avLst/>
          </a:prstGeom>
          <a:noFill/>
          <a:ln w="857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647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F33DE3-41AB-31D8-B3F0-09A2B75D43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096"/>
          <a:stretch>
            <a:fillRect/>
          </a:stretch>
        </p:blipFill>
        <p:spPr>
          <a:xfrm>
            <a:off x="2199724" y="1169140"/>
            <a:ext cx="7772400" cy="33915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AC7F7C-F0C0-4703-17C6-F4C4813E1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0C82F-81E0-F178-B0A4-9A22D10A9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9648" y="4773881"/>
            <a:ext cx="7792552" cy="14915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latin typeface="Andale Mono" panose="020B0509000000000004" pitchFamily="49" charset="0"/>
              </a:rPr>
              <a:t># Get the repository</a:t>
            </a:r>
          </a:p>
          <a:p>
            <a:pPr marL="0" indent="0">
              <a:buNone/>
            </a:pPr>
            <a:r>
              <a:rPr lang="en-US" sz="1400" dirty="0">
                <a:latin typeface="Andale Mono" panose="020B0509000000000004" pitchFamily="49" charset="0"/>
              </a:rPr>
              <a:t>git clone </a:t>
            </a:r>
            <a:r>
              <a:rPr lang="en-US" sz="1400" dirty="0">
                <a:latin typeface="Andale Mono" panose="020B0509000000000004" pitchFamily="49" charset="0"/>
                <a:hlinkClick r:id="rId4"/>
              </a:rPr>
              <a:t>git@github.com:&lt;username&gt;/SPECFEMPP.git</a:t>
            </a:r>
            <a:endParaRPr lang="en-US" sz="14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endParaRPr lang="en-US" sz="14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Andale Mono" panose="020B0509000000000004" pitchFamily="49" charset="0"/>
              </a:rPr>
              <a:t># to start from feature branch </a:t>
            </a:r>
          </a:p>
          <a:p>
            <a:pPr marL="0" indent="0">
              <a:buNone/>
            </a:pPr>
            <a:r>
              <a:rPr lang="en-US" sz="1400" dirty="0">
                <a:latin typeface="Andale Mono" panose="020B0509000000000004" pitchFamily="49" charset="0"/>
              </a:rPr>
              <a:t>git checkout feature</a:t>
            </a:r>
          </a:p>
          <a:p>
            <a:pPr marL="0" indent="0">
              <a:buNone/>
            </a:pPr>
            <a:endParaRPr lang="en-US" sz="14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endParaRPr lang="en-US" sz="14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endParaRPr lang="en-US" sz="1400" dirty="0"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357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D0CDE-1B59-7769-07A6-ECB826C87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DABEA29C-64CD-5E6A-C082-1E78D57DD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045979"/>
              </p:ext>
            </p:extLst>
          </p:nvPr>
        </p:nvGraphicFramePr>
        <p:xfrm>
          <a:off x="6825637" y="3564282"/>
          <a:ext cx="4070963" cy="902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6816">
                  <a:extLst>
                    <a:ext uri="{9D8B030D-6E8A-4147-A177-3AD203B41FA5}">
                      <a16:colId xmlns:a16="http://schemas.microsoft.com/office/drawing/2014/main" val="1515999930"/>
                    </a:ext>
                  </a:extLst>
                </a:gridCol>
                <a:gridCol w="2634147">
                  <a:extLst>
                    <a:ext uri="{9D8B030D-6E8A-4147-A177-3AD203B41FA5}">
                      <a16:colId xmlns:a16="http://schemas.microsoft.com/office/drawing/2014/main" val="2330470311"/>
                    </a:ext>
                  </a:extLst>
                </a:gridCol>
              </a:tblGrid>
              <a:tr h="300849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Branch: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feature-task-issue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74676"/>
                  </a:ext>
                </a:extLst>
              </a:tr>
              <a:tr h="300849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/>
                        <a:t>Task: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Update </a:t>
                      </a:r>
                      <a:r>
                        <a:rPr lang="en-US" sz="1200" dirty="0" err="1"/>
                        <a:t>README.md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2967534"/>
                  </a:ext>
                </a:extLst>
              </a:tr>
              <a:tr h="300849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/>
                        <a:t>Assignee: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optional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080841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E6FA04FC-AF98-84CB-70DD-E5E867F2C9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094276"/>
              </p:ext>
            </p:extLst>
          </p:nvPr>
        </p:nvGraphicFramePr>
        <p:xfrm>
          <a:off x="2966724" y="3564282"/>
          <a:ext cx="2590797" cy="902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2">
                  <a:extLst>
                    <a:ext uri="{9D8B030D-6E8A-4147-A177-3AD203B41FA5}">
                      <a16:colId xmlns:a16="http://schemas.microsoft.com/office/drawing/2014/main" val="1515999930"/>
                    </a:ext>
                  </a:extLst>
                </a:gridCol>
                <a:gridCol w="1676395">
                  <a:extLst>
                    <a:ext uri="{9D8B030D-6E8A-4147-A177-3AD203B41FA5}">
                      <a16:colId xmlns:a16="http://schemas.microsoft.com/office/drawing/2014/main" val="2330470311"/>
                    </a:ext>
                  </a:extLst>
                </a:gridCol>
              </a:tblGrid>
              <a:tr h="300849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Branch: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feature-test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74676"/>
                  </a:ext>
                </a:extLst>
              </a:tr>
              <a:tr h="300849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/>
                        <a:t>Task: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update </a:t>
                      </a:r>
                      <a:r>
                        <a:rPr lang="en-US" sz="1200" dirty="0" err="1"/>
                        <a:t>timescheme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2967534"/>
                  </a:ext>
                </a:extLst>
              </a:tr>
              <a:tr h="300849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/>
                        <a:t>Assignee: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optional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080841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9BA2662B-6CEC-8E50-2EFA-692354BEA63D}"/>
              </a:ext>
            </a:extLst>
          </p:cNvPr>
          <p:cNvGrpSpPr/>
          <p:nvPr/>
        </p:nvGrpSpPr>
        <p:grpSpPr>
          <a:xfrm>
            <a:off x="6092952" y="1924794"/>
            <a:ext cx="2175274" cy="2327816"/>
            <a:chOff x="2584702" y="2724912"/>
            <a:chExt cx="3383276" cy="2327816"/>
          </a:xfrm>
        </p:grpSpPr>
        <p:sp>
          <p:nvSpPr>
            <p:cNvPr id="43" name="Arc 42">
              <a:extLst>
                <a:ext uri="{FF2B5EF4-FFF2-40B4-BE49-F238E27FC236}">
                  <a16:creationId xmlns:a16="http://schemas.microsoft.com/office/drawing/2014/main" id="{FCA1FF38-9835-E0AC-95D3-6ADBAA5E20ED}"/>
                </a:ext>
              </a:extLst>
            </p:cNvPr>
            <p:cNvSpPr/>
            <p:nvPr/>
          </p:nvSpPr>
          <p:spPr>
            <a:xfrm rot="10800000">
              <a:off x="2584703" y="2724912"/>
              <a:ext cx="3383275" cy="1163908"/>
            </a:xfrm>
            <a:prstGeom prst="arc">
              <a:avLst/>
            </a:prstGeom>
            <a:ln w="635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ECB7A4BC-2F74-AA5D-AC38-BC44A9B974F2}"/>
                </a:ext>
              </a:extLst>
            </p:cNvPr>
            <p:cNvSpPr/>
            <p:nvPr/>
          </p:nvSpPr>
          <p:spPr>
            <a:xfrm rot="10800000" flipH="1" flipV="1">
              <a:off x="2584702" y="3888820"/>
              <a:ext cx="3383275" cy="1163908"/>
            </a:xfrm>
            <a:prstGeom prst="arc">
              <a:avLst/>
            </a:prstGeom>
            <a:ln w="635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69E9D90-60B4-661B-7EAC-3C860CD12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life of a task: Branches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C39B70-87B6-F01A-B5E4-D727B4E7CD5D}"/>
              </a:ext>
            </a:extLst>
          </p:cNvPr>
          <p:cNvCxnSpPr>
            <a:cxnSpLocks/>
          </p:cNvCxnSpPr>
          <p:nvPr/>
        </p:nvCxnSpPr>
        <p:spPr>
          <a:xfrm flipV="1">
            <a:off x="6092952" y="1734866"/>
            <a:ext cx="0" cy="4266994"/>
          </a:xfrm>
          <a:prstGeom prst="straightConnector1">
            <a:avLst/>
          </a:prstGeom>
          <a:ln w="63500">
            <a:solidFill>
              <a:schemeClr val="tx2">
                <a:lumMod val="50000"/>
                <a:lumOff val="50000"/>
              </a:schemeClr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434E026-3121-D6D8-40FB-30EB45EE83E5}"/>
              </a:ext>
            </a:extLst>
          </p:cNvPr>
          <p:cNvSpPr txBox="1"/>
          <p:nvPr/>
        </p:nvSpPr>
        <p:spPr>
          <a:xfrm>
            <a:off x="164591" y="3234482"/>
            <a:ext cx="80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E555BE-16D5-91A4-4E37-8F8EC3E35C1A}"/>
              </a:ext>
            </a:extLst>
          </p:cNvPr>
          <p:cNvSpPr txBox="1"/>
          <p:nvPr/>
        </p:nvSpPr>
        <p:spPr>
          <a:xfrm>
            <a:off x="5372102" y="6286866"/>
            <a:ext cx="1441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Branch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866640-704E-68C2-50A5-15A227111524}"/>
              </a:ext>
            </a:extLst>
          </p:cNvPr>
          <p:cNvSpPr txBox="1"/>
          <p:nvPr/>
        </p:nvSpPr>
        <p:spPr>
          <a:xfrm>
            <a:off x="6217922" y="1635648"/>
            <a:ext cx="1821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F8F3774-90DA-6F99-A1C6-D05BB04B3EEA}"/>
              </a:ext>
            </a:extLst>
          </p:cNvPr>
          <p:cNvGrpSpPr/>
          <p:nvPr/>
        </p:nvGrpSpPr>
        <p:grpSpPr>
          <a:xfrm flipH="1">
            <a:off x="3881473" y="1543794"/>
            <a:ext cx="2211475" cy="2327816"/>
            <a:chOff x="2584702" y="2724912"/>
            <a:chExt cx="3383276" cy="2327816"/>
          </a:xfrm>
        </p:grpSpPr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8C2D08D4-25A3-113F-B143-AF2450B02C13}"/>
                </a:ext>
              </a:extLst>
            </p:cNvPr>
            <p:cNvSpPr/>
            <p:nvPr/>
          </p:nvSpPr>
          <p:spPr>
            <a:xfrm rot="10800000">
              <a:off x="2584703" y="2724912"/>
              <a:ext cx="3383275" cy="1163908"/>
            </a:xfrm>
            <a:prstGeom prst="arc">
              <a:avLst/>
            </a:prstGeom>
            <a:ln w="635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6EC2A636-FFC8-8FFB-8470-040DABAE7A3C}"/>
                </a:ext>
              </a:extLst>
            </p:cNvPr>
            <p:cNvSpPr/>
            <p:nvPr/>
          </p:nvSpPr>
          <p:spPr>
            <a:xfrm rot="10800000" flipH="1" flipV="1">
              <a:off x="2584702" y="3888820"/>
              <a:ext cx="3383275" cy="1163908"/>
            </a:xfrm>
            <a:prstGeom prst="arc">
              <a:avLst/>
            </a:prstGeom>
            <a:ln w="635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07E8BCB-9235-13A3-FB4A-EEE1222CA907}"/>
              </a:ext>
            </a:extLst>
          </p:cNvPr>
          <p:cNvCxnSpPr>
            <a:cxnSpLocks/>
          </p:cNvCxnSpPr>
          <p:nvPr/>
        </p:nvCxnSpPr>
        <p:spPr>
          <a:xfrm flipV="1">
            <a:off x="3880781" y="3267960"/>
            <a:ext cx="0" cy="1376527"/>
          </a:xfrm>
          <a:prstGeom prst="straightConnector1">
            <a:avLst/>
          </a:prstGeom>
          <a:ln w="63500">
            <a:solidFill>
              <a:schemeClr val="tx2">
                <a:lumMod val="50000"/>
                <a:lumOff val="50000"/>
              </a:schemeClr>
            </a:solidFill>
            <a:headEnd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932BD7A-3783-9A1C-37CB-D428D1870805}"/>
              </a:ext>
            </a:extLst>
          </p:cNvPr>
          <p:cNvCxnSpPr>
            <a:cxnSpLocks/>
          </p:cNvCxnSpPr>
          <p:nvPr/>
        </p:nvCxnSpPr>
        <p:spPr>
          <a:xfrm flipH="1" flipV="1">
            <a:off x="8266162" y="3667399"/>
            <a:ext cx="1376" cy="736871"/>
          </a:xfrm>
          <a:prstGeom prst="straightConnector1">
            <a:avLst/>
          </a:prstGeom>
          <a:ln w="63500">
            <a:solidFill>
              <a:schemeClr val="tx2">
                <a:lumMod val="50000"/>
                <a:lumOff val="50000"/>
              </a:schemeClr>
            </a:solidFill>
            <a:headEnd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33C4457-78A7-C8F1-F689-A36818135204}"/>
              </a:ext>
            </a:extLst>
          </p:cNvPr>
          <p:cNvGrpSpPr/>
          <p:nvPr/>
        </p:nvGrpSpPr>
        <p:grpSpPr>
          <a:xfrm flipH="1" flipV="1">
            <a:off x="3880782" y="4046226"/>
            <a:ext cx="2211477" cy="2327816"/>
            <a:chOff x="2584702" y="2724912"/>
            <a:chExt cx="3383276" cy="2327816"/>
          </a:xfrm>
        </p:grpSpPr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367B6921-893E-8BE1-546C-4C6119DEDD5C}"/>
                </a:ext>
              </a:extLst>
            </p:cNvPr>
            <p:cNvSpPr/>
            <p:nvPr/>
          </p:nvSpPr>
          <p:spPr>
            <a:xfrm rot="10800000">
              <a:off x="2584703" y="2724912"/>
              <a:ext cx="3383275" cy="1163908"/>
            </a:xfrm>
            <a:prstGeom prst="arc">
              <a:avLst/>
            </a:prstGeom>
            <a:ln w="635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0C5F8F8C-801B-CA85-3968-28C38EF9EF66}"/>
                </a:ext>
              </a:extLst>
            </p:cNvPr>
            <p:cNvSpPr/>
            <p:nvPr/>
          </p:nvSpPr>
          <p:spPr>
            <a:xfrm rot="10800000" flipH="1" flipV="1">
              <a:off x="2584702" y="3888820"/>
              <a:ext cx="3383275" cy="1163908"/>
            </a:xfrm>
            <a:prstGeom prst="arc">
              <a:avLst/>
            </a:prstGeom>
            <a:ln w="635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493A470-5828-55AE-4A16-5D64228470B0}"/>
              </a:ext>
            </a:extLst>
          </p:cNvPr>
          <p:cNvGrpSpPr/>
          <p:nvPr/>
        </p:nvGrpSpPr>
        <p:grpSpPr>
          <a:xfrm flipV="1">
            <a:off x="6088521" y="3897263"/>
            <a:ext cx="2182308" cy="1958464"/>
            <a:chOff x="2584702" y="2724912"/>
            <a:chExt cx="3383276" cy="2327816"/>
          </a:xfrm>
        </p:grpSpPr>
        <p:sp>
          <p:nvSpPr>
            <p:cNvPr id="42" name="Arc 41">
              <a:extLst>
                <a:ext uri="{FF2B5EF4-FFF2-40B4-BE49-F238E27FC236}">
                  <a16:creationId xmlns:a16="http://schemas.microsoft.com/office/drawing/2014/main" id="{65A2E7CE-A974-2A81-51B5-F11AC9B489B9}"/>
                </a:ext>
              </a:extLst>
            </p:cNvPr>
            <p:cNvSpPr/>
            <p:nvPr/>
          </p:nvSpPr>
          <p:spPr>
            <a:xfrm rot="10800000">
              <a:off x="2584703" y="2724912"/>
              <a:ext cx="3383275" cy="1163908"/>
            </a:xfrm>
            <a:prstGeom prst="arc">
              <a:avLst/>
            </a:prstGeom>
            <a:ln w="635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E5F2EA09-AB08-2B07-C6CB-308ABA390422}"/>
                </a:ext>
              </a:extLst>
            </p:cNvPr>
            <p:cNvSpPr/>
            <p:nvPr/>
          </p:nvSpPr>
          <p:spPr>
            <a:xfrm rot="10800000" flipH="1" flipV="1">
              <a:off x="2584702" y="3888820"/>
              <a:ext cx="3383275" cy="1163908"/>
            </a:xfrm>
            <a:prstGeom prst="arc">
              <a:avLst/>
            </a:prstGeom>
            <a:ln w="635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52105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839DA-6356-38F9-59B3-CAFAE06E2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0D6227-F837-E750-62D4-EC637F096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242" y="1372631"/>
            <a:ext cx="9279516" cy="39003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B3FA63-79C5-CD68-BA70-537F67B65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Always sync your fork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79F026-AC33-6361-A6CA-F87308B3491A}"/>
              </a:ext>
            </a:extLst>
          </p:cNvPr>
          <p:cNvSpPr/>
          <p:nvPr/>
        </p:nvSpPr>
        <p:spPr>
          <a:xfrm>
            <a:off x="1456242" y="2080776"/>
            <a:ext cx="1073202" cy="492524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5BD1C7-0957-04FC-6249-C25802C4655E}"/>
              </a:ext>
            </a:extLst>
          </p:cNvPr>
          <p:cNvSpPr/>
          <p:nvPr/>
        </p:nvSpPr>
        <p:spPr>
          <a:xfrm>
            <a:off x="6752111" y="2564394"/>
            <a:ext cx="1323109" cy="492526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36C334A-A4F9-1E2E-F158-98DF3100C960}"/>
              </a:ext>
            </a:extLst>
          </p:cNvPr>
          <p:cNvSpPr txBox="1">
            <a:spLocks/>
          </p:cNvSpPr>
          <p:nvPr/>
        </p:nvSpPr>
        <p:spPr>
          <a:xfrm>
            <a:off x="1992843" y="5485369"/>
            <a:ext cx="8458200" cy="785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latin typeface="Andale Mono" panose="020B0509000000000004" pitchFamily="49" charset="0"/>
              </a:rPr>
              <a:t># Then in the terminal, update your local branch using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latin typeface="Andale Mono" panose="020B0509000000000004" pitchFamily="49" charset="0"/>
              </a:rPr>
              <a:t>git pull origin feature</a:t>
            </a:r>
          </a:p>
        </p:txBody>
      </p:sp>
    </p:spTree>
    <p:extLst>
      <p:ext uri="{BB962C8B-B14F-4D97-AF65-F5344CB8AC3E}">
        <p14:creationId xmlns:p14="http://schemas.microsoft.com/office/powerpoint/2010/main" val="3384875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8FD15-8E00-C38E-8882-3B52E111B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C41CC-B2D0-B794-2199-52B45657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life of a task: The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0F95F-AD5A-EAC4-BFF9-4E5B236D2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8764"/>
            <a:ext cx="10515600" cy="48021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# [1] Start from feature branch and create new</a:t>
            </a:r>
          </a:p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#     branch</a:t>
            </a:r>
          </a:p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git checkout –b feature-test-issue</a:t>
            </a:r>
          </a:p>
          <a:p>
            <a:pPr marL="0" indent="0">
              <a:buNone/>
            </a:pPr>
            <a:endParaRPr lang="en-US" sz="20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# [2.1] Edit files</a:t>
            </a:r>
          </a:p>
          <a:p>
            <a:pPr marL="0" indent="0">
              <a:buNone/>
            </a:pPr>
            <a:endParaRPr lang="en-US" sz="20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# [2.2] Add the new files to be tracked</a:t>
            </a:r>
          </a:p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git add &lt;new file &gt;</a:t>
            </a:r>
          </a:p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git commit –m ’New commit’</a:t>
            </a:r>
          </a:p>
          <a:p>
            <a:pPr marL="0" indent="0">
              <a:buNone/>
            </a:pPr>
            <a:endParaRPr lang="en-US" sz="20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# [3] Push your updates to your fork on </a:t>
            </a:r>
            <a:r>
              <a:rPr lang="en-US" sz="2000" dirty="0" err="1">
                <a:latin typeface="Andale Mono" panose="020B0509000000000004" pitchFamily="49" charset="0"/>
              </a:rPr>
              <a:t>Github</a:t>
            </a:r>
            <a:r>
              <a:rPr lang="en-US" sz="2000" dirty="0">
                <a:latin typeface="Andale Mono" panose="020B05090000000000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git push origin feature-test-issue</a:t>
            </a:r>
          </a:p>
          <a:p>
            <a:pPr marL="0" indent="0">
              <a:buNone/>
            </a:pPr>
            <a:endParaRPr lang="en-US" sz="20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# [4] Create pull request from your branch feature-task-2</a:t>
            </a:r>
          </a:p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#     to the feature branch in the SPECFEMPP repo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098C843-319B-791F-5561-1D4E41139C9F}"/>
              </a:ext>
            </a:extLst>
          </p:cNvPr>
          <p:cNvCxnSpPr>
            <a:cxnSpLocks/>
          </p:cNvCxnSpPr>
          <p:nvPr/>
        </p:nvCxnSpPr>
        <p:spPr>
          <a:xfrm flipV="1">
            <a:off x="8853305" y="1154325"/>
            <a:ext cx="0" cy="4966272"/>
          </a:xfrm>
          <a:prstGeom prst="straightConnector1">
            <a:avLst/>
          </a:prstGeom>
          <a:ln w="63500">
            <a:solidFill>
              <a:schemeClr val="tx2">
                <a:lumMod val="50000"/>
                <a:lumOff val="50000"/>
              </a:schemeClr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53FE93A0-C82F-789B-9B7F-FBAD1CF9EAF1}"/>
              </a:ext>
            </a:extLst>
          </p:cNvPr>
          <p:cNvGrpSpPr/>
          <p:nvPr/>
        </p:nvGrpSpPr>
        <p:grpSpPr>
          <a:xfrm flipH="1">
            <a:off x="8853305" y="3723134"/>
            <a:ext cx="2085834" cy="2327816"/>
            <a:chOff x="2584702" y="2724912"/>
            <a:chExt cx="3383276" cy="2327816"/>
          </a:xfrm>
        </p:grpSpPr>
        <p:sp>
          <p:nvSpPr>
            <p:cNvPr id="8" name="Arc 7">
              <a:extLst>
                <a:ext uri="{FF2B5EF4-FFF2-40B4-BE49-F238E27FC236}">
                  <a16:creationId xmlns:a16="http://schemas.microsoft.com/office/drawing/2014/main" id="{D4FACF50-0A0E-1A46-F3A9-4AECA5C3C116}"/>
                </a:ext>
              </a:extLst>
            </p:cNvPr>
            <p:cNvSpPr/>
            <p:nvPr/>
          </p:nvSpPr>
          <p:spPr>
            <a:xfrm rot="10800000">
              <a:off x="2584703" y="2724912"/>
              <a:ext cx="3383275" cy="1163908"/>
            </a:xfrm>
            <a:prstGeom prst="arc">
              <a:avLst/>
            </a:prstGeom>
            <a:ln w="635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B2AB1732-39E4-54E5-F81E-37921F649C4D}"/>
                </a:ext>
              </a:extLst>
            </p:cNvPr>
            <p:cNvSpPr/>
            <p:nvPr/>
          </p:nvSpPr>
          <p:spPr>
            <a:xfrm rot="10800000" flipH="1" flipV="1">
              <a:off x="2584702" y="3888820"/>
              <a:ext cx="3383275" cy="1163908"/>
            </a:xfrm>
            <a:prstGeom prst="arc">
              <a:avLst/>
            </a:prstGeom>
            <a:ln w="635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A1AA51E-A7FC-B52D-8444-F0E16667E230}"/>
              </a:ext>
            </a:extLst>
          </p:cNvPr>
          <p:cNvSpPr txBox="1"/>
          <p:nvPr/>
        </p:nvSpPr>
        <p:spPr>
          <a:xfrm>
            <a:off x="8853304" y="1001488"/>
            <a:ext cx="153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64B3091-0365-44C0-D4EE-2EE872A1D8E7}"/>
              </a:ext>
            </a:extLst>
          </p:cNvPr>
          <p:cNvCxnSpPr>
            <a:cxnSpLocks/>
            <a:endCxn id="17" idx="2"/>
          </p:cNvCxnSpPr>
          <p:nvPr/>
        </p:nvCxnSpPr>
        <p:spPr>
          <a:xfrm flipH="1" flipV="1">
            <a:off x="10939137" y="3005324"/>
            <a:ext cx="1" cy="1299763"/>
          </a:xfrm>
          <a:prstGeom prst="straightConnector1">
            <a:avLst/>
          </a:prstGeom>
          <a:ln w="63500">
            <a:solidFill>
              <a:schemeClr val="tx2">
                <a:lumMod val="50000"/>
                <a:lumOff val="50000"/>
              </a:schemeClr>
            </a:solidFill>
            <a:headEnd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876742-5DBF-3138-303D-C1DA8C103903}"/>
              </a:ext>
            </a:extLst>
          </p:cNvPr>
          <p:cNvSpPr txBox="1"/>
          <p:nvPr/>
        </p:nvSpPr>
        <p:spPr>
          <a:xfrm>
            <a:off x="9854441" y="1449058"/>
            <a:ext cx="193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feature-test-issue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B54BFC9-0CF6-37E7-12E4-E8E9C30EE14A}"/>
              </a:ext>
            </a:extLst>
          </p:cNvPr>
          <p:cNvGrpSpPr/>
          <p:nvPr/>
        </p:nvGrpSpPr>
        <p:grpSpPr>
          <a:xfrm flipH="1" flipV="1">
            <a:off x="8853304" y="1259462"/>
            <a:ext cx="2085834" cy="2327816"/>
            <a:chOff x="2584702" y="2724912"/>
            <a:chExt cx="3383276" cy="2327816"/>
          </a:xfrm>
        </p:grpSpPr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8C0B3B67-ABA9-E938-81DE-37F9AD48ECD3}"/>
                </a:ext>
              </a:extLst>
            </p:cNvPr>
            <p:cNvSpPr/>
            <p:nvPr/>
          </p:nvSpPr>
          <p:spPr>
            <a:xfrm rot="10800000">
              <a:off x="2584703" y="2724912"/>
              <a:ext cx="3383275" cy="1163908"/>
            </a:xfrm>
            <a:prstGeom prst="arc">
              <a:avLst/>
            </a:prstGeom>
            <a:ln w="635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43FAA65A-A8CE-2699-4B7A-9261587FE675}"/>
                </a:ext>
              </a:extLst>
            </p:cNvPr>
            <p:cNvSpPr/>
            <p:nvPr/>
          </p:nvSpPr>
          <p:spPr>
            <a:xfrm rot="10800000" flipH="1" flipV="1">
              <a:off x="2584702" y="3888820"/>
              <a:ext cx="3383275" cy="1163908"/>
            </a:xfrm>
            <a:prstGeom prst="arc">
              <a:avLst/>
            </a:prstGeom>
            <a:ln w="635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614AC24-6AE6-EDF9-782D-B81FE1EB21C6}"/>
              </a:ext>
            </a:extLst>
          </p:cNvPr>
          <p:cNvSpPr txBox="1"/>
          <p:nvPr/>
        </p:nvSpPr>
        <p:spPr>
          <a:xfrm>
            <a:off x="9618349" y="4977130"/>
            <a:ext cx="765044" cy="377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[1]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BF6AED-0EAD-150D-D230-569AA798FB47}"/>
              </a:ext>
            </a:extLst>
          </p:cNvPr>
          <p:cNvSpPr txBox="1"/>
          <p:nvPr/>
        </p:nvSpPr>
        <p:spPr>
          <a:xfrm>
            <a:off x="10834486" y="3438247"/>
            <a:ext cx="765044" cy="377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[2]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8E83E9-B05C-0D24-1EFF-7E3C8BDA7084}"/>
              </a:ext>
            </a:extLst>
          </p:cNvPr>
          <p:cNvSpPr txBox="1"/>
          <p:nvPr/>
        </p:nvSpPr>
        <p:spPr>
          <a:xfrm>
            <a:off x="10823319" y="2625591"/>
            <a:ext cx="765044" cy="377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[3]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28EE21-2E1D-2A31-0630-843D287A0F72}"/>
              </a:ext>
            </a:extLst>
          </p:cNvPr>
          <p:cNvSpPr txBox="1"/>
          <p:nvPr/>
        </p:nvSpPr>
        <p:spPr>
          <a:xfrm>
            <a:off x="9618349" y="1938256"/>
            <a:ext cx="765044" cy="377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2320797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A8FDF-0B77-2FD0-046B-062AFF539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B84CB-EF36-0327-E99B-F242C54D1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life of a task: Merge conflict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CCEDB-58AE-B3FD-560D-992DC9E50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010" y="1179212"/>
            <a:ext cx="10515600" cy="48021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# [2] Edit files (see previous slide)</a:t>
            </a:r>
          </a:p>
          <a:p>
            <a:pPr marL="0" indent="0">
              <a:buNone/>
            </a:pPr>
            <a:endParaRPr lang="en-US" sz="20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Andale Mono" panose="020B0509000000000004" pitchFamily="49" charset="0"/>
              </a:rPr>
              <a:t># [3] Sync fork again to get updates</a:t>
            </a:r>
          </a:p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git checkout feature</a:t>
            </a:r>
          </a:p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git pull origin feature</a:t>
            </a:r>
          </a:p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git checkout feature-test-issue</a:t>
            </a:r>
          </a:p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git merge feature</a:t>
            </a:r>
          </a:p>
          <a:p>
            <a:pPr marL="0" indent="0">
              <a:buNone/>
            </a:pPr>
            <a:endParaRPr lang="en-US" sz="20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# [4] Push your updates to your fork on </a:t>
            </a:r>
            <a:r>
              <a:rPr lang="en-US" sz="2000" dirty="0" err="1">
                <a:latin typeface="Andale Mono" panose="020B0509000000000004" pitchFamily="49" charset="0"/>
              </a:rPr>
              <a:t>Github</a:t>
            </a:r>
            <a:r>
              <a:rPr lang="en-US" sz="2000" dirty="0">
                <a:latin typeface="Andale Mono" panose="020B05090000000000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git push origin feature-test-issue</a:t>
            </a:r>
          </a:p>
          <a:p>
            <a:pPr marL="0" indent="0">
              <a:buNone/>
            </a:pPr>
            <a:endParaRPr lang="en-US" sz="20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# [5] Create PR from your feature-test-issue</a:t>
            </a:r>
          </a:p>
          <a:p>
            <a:pPr marL="0" indent="0">
              <a:buNone/>
            </a:pPr>
            <a:r>
              <a:rPr lang="en-US" sz="2000" dirty="0">
                <a:latin typeface="Andale Mono" panose="020B0509000000000004" pitchFamily="49" charset="0"/>
              </a:rPr>
              <a:t>#     to the feature branch in the SPECFEMPP repo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EED6FD-FE72-53E2-49D7-11BACCC380F3}"/>
              </a:ext>
            </a:extLst>
          </p:cNvPr>
          <p:cNvGrpSpPr/>
          <p:nvPr/>
        </p:nvGrpSpPr>
        <p:grpSpPr>
          <a:xfrm>
            <a:off x="6563330" y="1049275"/>
            <a:ext cx="5628670" cy="5324554"/>
            <a:chOff x="5767991" y="372096"/>
            <a:chExt cx="6620629" cy="6262917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8CC3FA9A-2E02-0A7D-E007-F556A722B4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4552" y="524933"/>
              <a:ext cx="0" cy="5967942"/>
            </a:xfrm>
            <a:prstGeom prst="straightConnector1">
              <a:avLst/>
            </a:prstGeom>
            <a:ln w="63500">
              <a:solidFill>
                <a:schemeClr val="tx2">
                  <a:lumMod val="50000"/>
                  <a:lumOff val="50000"/>
                </a:schemeClr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4324C8C-DC32-E4BC-B6C1-C3BF0B148991}"/>
                </a:ext>
              </a:extLst>
            </p:cNvPr>
            <p:cNvGrpSpPr/>
            <p:nvPr/>
          </p:nvGrpSpPr>
          <p:grpSpPr>
            <a:xfrm flipH="1">
              <a:off x="8734552" y="3093742"/>
              <a:ext cx="2085834" cy="2327816"/>
              <a:chOff x="2584702" y="2724912"/>
              <a:chExt cx="3383276" cy="2327816"/>
            </a:xfrm>
          </p:grpSpPr>
          <p:sp>
            <p:nvSpPr>
              <p:cNvPr id="8" name="Arc 7">
                <a:extLst>
                  <a:ext uri="{FF2B5EF4-FFF2-40B4-BE49-F238E27FC236}">
                    <a16:creationId xmlns:a16="http://schemas.microsoft.com/office/drawing/2014/main" id="{CD6B9742-33C6-81D5-E4EB-60600AEEBBA4}"/>
                  </a:ext>
                </a:extLst>
              </p:cNvPr>
              <p:cNvSpPr/>
              <p:nvPr/>
            </p:nvSpPr>
            <p:spPr>
              <a:xfrm rot="10800000">
                <a:off x="2584703" y="2724912"/>
                <a:ext cx="3383275" cy="1163908"/>
              </a:xfrm>
              <a:prstGeom prst="arc">
                <a:avLst/>
              </a:prstGeom>
              <a:ln w="635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id="{DED40AF7-F6F6-24FD-50D8-7D9A91CB7823}"/>
                  </a:ext>
                </a:extLst>
              </p:cNvPr>
              <p:cNvSpPr/>
              <p:nvPr/>
            </p:nvSpPr>
            <p:spPr>
              <a:xfrm rot="10800000" flipH="1" flipV="1">
                <a:off x="2584702" y="3888820"/>
                <a:ext cx="3383275" cy="1163908"/>
              </a:xfrm>
              <a:prstGeom prst="arc">
                <a:avLst/>
              </a:prstGeom>
              <a:ln w="635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598029B-3362-4D12-A2F1-3CC1E169A390}"/>
                </a:ext>
              </a:extLst>
            </p:cNvPr>
            <p:cNvSpPr txBox="1"/>
            <p:nvPr/>
          </p:nvSpPr>
          <p:spPr>
            <a:xfrm>
              <a:off x="8734553" y="372096"/>
              <a:ext cx="1206575" cy="434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feature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EEED875-361B-7E36-2CAE-FAA4235763B5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H="1" flipV="1">
              <a:off x="10820384" y="2375932"/>
              <a:ext cx="1" cy="1299763"/>
            </a:xfrm>
            <a:prstGeom prst="straightConnector1">
              <a:avLst/>
            </a:prstGeom>
            <a:ln w="63500">
              <a:solidFill>
                <a:schemeClr val="tx2">
                  <a:lumMod val="50000"/>
                  <a:lumOff val="50000"/>
                </a:schemeClr>
              </a:solidFill>
              <a:headEnd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068D873-A3E1-F590-775F-63F5A047047A}"/>
                </a:ext>
              </a:extLst>
            </p:cNvPr>
            <p:cNvSpPr txBox="1"/>
            <p:nvPr/>
          </p:nvSpPr>
          <p:spPr>
            <a:xfrm>
              <a:off x="10313954" y="1237112"/>
              <a:ext cx="2074666" cy="434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feature-task-2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A6012CD-0919-A008-6057-F82D3D4ABE68}"/>
                </a:ext>
              </a:extLst>
            </p:cNvPr>
            <p:cNvGrpSpPr/>
            <p:nvPr/>
          </p:nvGrpSpPr>
          <p:grpSpPr>
            <a:xfrm flipH="1" flipV="1">
              <a:off x="8734551" y="630070"/>
              <a:ext cx="2085834" cy="2327816"/>
              <a:chOff x="2584702" y="2724912"/>
              <a:chExt cx="3383276" cy="2327816"/>
            </a:xfrm>
          </p:grpSpPr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DC53148D-A514-AEEA-7F44-DB3D9629D9EE}"/>
                  </a:ext>
                </a:extLst>
              </p:cNvPr>
              <p:cNvSpPr/>
              <p:nvPr/>
            </p:nvSpPr>
            <p:spPr>
              <a:xfrm rot="10800000">
                <a:off x="2584703" y="2724912"/>
                <a:ext cx="3383275" cy="1163908"/>
              </a:xfrm>
              <a:prstGeom prst="arc">
                <a:avLst/>
              </a:prstGeom>
              <a:ln w="635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7E69C77A-1204-1125-E406-D2300CE17207}"/>
                  </a:ext>
                </a:extLst>
              </p:cNvPr>
              <p:cNvSpPr/>
              <p:nvPr/>
            </p:nvSpPr>
            <p:spPr>
              <a:xfrm rot="10800000" flipH="1" flipV="1">
                <a:off x="2584702" y="3888820"/>
                <a:ext cx="3383275" cy="1163908"/>
              </a:xfrm>
              <a:prstGeom prst="arc">
                <a:avLst/>
              </a:prstGeom>
              <a:ln w="635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B93D3CD-EFEA-C1E1-4BF9-E1FEBF2400F0}"/>
                </a:ext>
              </a:extLst>
            </p:cNvPr>
            <p:cNvSpPr txBox="1"/>
            <p:nvPr/>
          </p:nvSpPr>
          <p:spPr>
            <a:xfrm>
              <a:off x="9499596" y="4347738"/>
              <a:ext cx="765044" cy="3776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[1]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A1CB71A-D895-F42C-F726-AA73BE19F9B8}"/>
                </a:ext>
              </a:extLst>
            </p:cNvPr>
            <p:cNvSpPr txBox="1"/>
            <p:nvPr/>
          </p:nvSpPr>
          <p:spPr>
            <a:xfrm>
              <a:off x="10715733" y="2808855"/>
              <a:ext cx="765044" cy="3776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[2]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130BCB9-2B90-9807-A384-83750A58E542}"/>
                </a:ext>
              </a:extLst>
            </p:cNvPr>
            <p:cNvSpPr txBox="1"/>
            <p:nvPr/>
          </p:nvSpPr>
          <p:spPr>
            <a:xfrm>
              <a:off x="10704566" y="2058924"/>
              <a:ext cx="765044" cy="3776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[3]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0C9F9EA-732C-BCB5-D769-B7A5D0B8A2A1}"/>
                </a:ext>
              </a:extLst>
            </p:cNvPr>
            <p:cNvSpPr txBox="1"/>
            <p:nvPr/>
          </p:nvSpPr>
          <p:spPr>
            <a:xfrm>
              <a:off x="10704570" y="1797513"/>
              <a:ext cx="765044" cy="3776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[4]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F14D6CC-A79A-B283-E27D-0A87690C8DE1}"/>
                </a:ext>
              </a:extLst>
            </p:cNvPr>
            <p:cNvGrpSpPr/>
            <p:nvPr/>
          </p:nvGrpSpPr>
          <p:grpSpPr>
            <a:xfrm>
              <a:off x="6648715" y="4307197"/>
              <a:ext cx="2085834" cy="2327816"/>
              <a:chOff x="2584702" y="2724912"/>
              <a:chExt cx="3383276" cy="2327816"/>
            </a:xfrm>
          </p:grpSpPr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57F1F570-CCEB-5F56-5F6E-7853D3010DEA}"/>
                  </a:ext>
                </a:extLst>
              </p:cNvPr>
              <p:cNvSpPr/>
              <p:nvPr/>
            </p:nvSpPr>
            <p:spPr>
              <a:xfrm rot="10800000">
                <a:off x="2584703" y="2724912"/>
                <a:ext cx="3383275" cy="1163908"/>
              </a:xfrm>
              <a:prstGeom prst="arc">
                <a:avLst/>
              </a:prstGeom>
              <a:ln w="63500">
                <a:solidFill>
                  <a:schemeClr val="tx2">
                    <a:lumMod val="50000"/>
                    <a:lumOff val="50000"/>
                    <a:alpha val="39972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Arc 29">
                <a:extLst>
                  <a:ext uri="{FF2B5EF4-FFF2-40B4-BE49-F238E27FC236}">
                    <a16:creationId xmlns:a16="http://schemas.microsoft.com/office/drawing/2014/main" id="{ED475542-5F9B-0180-3F48-129490F0D4C4}"/>
                  </a:ext>
                </a:extLst>
              </p:cNvPr>
              <p:cNvSpPr/>
              <p:nvPr/>
            </p:nvSpPr>
            <p:spPr>
              <a:xfrm rot="10800000" flipH="1" flipV="1">
                <a:off x="2584702" y="3888820"/>
                <a:ext cx="3383275" cy="1163908"/>
              </a:xfrm>
              <a:prstGeom prst="arc">
                <a:avLst/>
              </a:prstGeom>
              <a:ln w="63500">
                <a:solidFill>
                  <a:schemeClr val="tx2">
                    <a:lumMod val="50000"/>
                    <a:lumOff val="50000"/>
                    <a:alpha val="39972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BB0DFEA-6EA0-8537-E87B-5F9D27BDB70B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 flipV="1">
              <a:off x="6648716" y="3589387"/>
              <a:ext cx="1" cy="1299763"/>
            </a:xfrm>
            <a:prstGeom prst="straightConnector1">
              <a:avLst/>
            </a:prstGeom>
            <a:ln w="63500">
              <a:solidFill>
                <a:schemeClr val="tx2">
                  <a:lumMod val="50000"/>
                  <a:lumOff val="50000"/>
                  <a:alpha val="39972"/>
                </a:schemeClr>
              </a:solidFill>
              <a:headEnd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0B46148-1326-5BFC-348D-5D849F2EEE45}"/>
                </a:ext>
              </a:extLst>
            </p:cNvPr>
            <p:cNvGrpSpPr/>
            <p:nvPr/>
          </p:nvGrpSpPr>
          <p:grpSpPr>
            <a:xfrm flipV="1">
              <a:off x="6648716" y="1843525"/>
              <a:ext cx="2085834" cy="2327816"/>
              <a:chOff x="2584702" y="2724912"/>
              <a:chExt cx="3383276" cy="2327816"/>
            </a:xfrm>
          </p:grpSpPr>
          <p:sp>
            <p:nvSpPr>
              <p:cNvPr id="33" name="Arc 32">
                <a:extLst>
                  <a:ext uri="{FF2B5EF4-FFF2-40B4-BE49-F238E27FC236}">
                    <a16:creationId xmlns:a16="http://schemas.microsoft.com/office/drawing/2014/main" id="{D05F3B61-2F63-5F6F-ECAA-7DAEADF6DCAC}"/>
                  </a:ext>
                </a:extLst>
              </p:cNvPr>
              <p:cNvSpPr/>
              <p:nvPr/>
            </p:nvSpPr>
            <p:spPr>
              <a:xfrm rot="10800000">
                <a:off x="2584703" y="2724912"/>
                <a:ext cx="3383275" cy="1163908"/>
              </a:xfrm>
              <a:prstGeom prst="arc">
                <a:avLst/>
              </a:prstGeom>
              <a:ln w="63500">
                <a:solidFill>
                  <a:schemeClr val="tx2">
                    <a:lumMod val="50000"/>
                    <a:lumOff val="50000"/>
                    <a:alpha val="39972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Arc 33">
                <a:extLst>
                  <a:ext uri="{FF2B5EF4-FFF2-40B4-BE49-F238E27FC236}">
                    <a16:creationId xmlns:a16="http://schemas.microsoft.com/office/drawing/2014/main" id="{035A0EE1-B0D6-D0B8-10ED-24D1AB218D8B}"/>
                  </a:ext>
                </a:extLst>
              </p:cNvPr>
              <p:cNvSpPr/>
              <p:nvPr/>
            </p:nvSpPr>
            <p:spPr>
              <a:xfrm rot="10800000" flipH="1" flipV="1">
                <a:off x="2584702" y="3888820"/>
                <a:ext cx="3383275" cy="1163908"/>
              </a:xfrm>
              <a:prstGeom prst="arc">
                <a:avLst/>
              </a:prstGeom>
              <a:ln w="63500">
                <a:solidFill>
                  <a:schemeClr val="tx2">
                    <a:lumMod val="50000"/>
                    <a:lumOff val="50000"/>
                    <a:alpha val="39972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F43707D-FC03-8DBF-F1F6-34E4C83A2C51}"/>
                </a:ext>
              </a:extLst>
            </p:cNvPr>
            <p:cNvSpPr txBox="1"/>
            <p:nvPr/>
          </p:nvSpPr>
          <p:spPr>
            <a:xfrm>
              <a:off x="9499596" y="1308864"/>
              <a:ext cx="765044" cy="3776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[5]</a:t>
              </a:r>
            </a:p>
          </p:txBody>
        </p:sp>
        <p:cxnSp>
          <p:nvCxnSpPr>
            <p:cNvPr id="37" name="Curved Connector 36">
              <a:extLst>
                <a:ext uri="{FF2B5EF4-FFF2-40B4-BE49-F238E27FC236}">
                  <a16:creationId xmlns:a16="http://schemas.microsoft.com/office/drawing/2014/main" id="{25BF4355-3DB3-D163-E063-6D67AEA34D07}"/>
                </a:ext>
              </a:extLst>
            </p:cNvPr>
            <p:cNvCxnSpPr>
              <a:cxnSpLocks/>
              <a:stCxn id="26" idx="3"/>
              <a:endCxn id="25" idx="3"/>
            </p:cNvCxnSpPr>
            <p:nvPr/>
          </p:nvCxnSpPr>
          <p:spPr>
            <a:xfrm>
              <a:off x="11469610" y="2247745"/>
              <a:ext cx="11167" cy="749931"/>
            </a:xfrm>
            <a:prstGeom prst="curvedConnector3">
              <a:avLst>
                <a:gd name="adj1" fmla="val 2147103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A36B7BA-D2EA-3782-6C4D-6DF1C34A6632}"/>
                </a:ext>
              </a:extLst>
            </p:cNvPr>
            <p:cNvSpPr txBox="1"/>
            <p:nvPr/>
          </p:nvSpPr>
          <p:spPr>
            <a:xfrm>
              <a:off x="5767991" y="2006464"/>
              <a:ext cx="2134489" cy="1086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Other work</a:t>
              </a:r>
            </a:p>
            <a:p>
              <a:r>
                <a:rPr lang="en-US" dirty="0"/>
                <a:t>already merged into 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9722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3A516-9E8C-4F59-0629-0EEB4C82B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325C8D-AA6D-381E-91FB-D59C48F00A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87"/>
          <a:stretch>
            <a:fillRect/>
          </a:stretch>
        </p:blipFill>
        <p:spPr>
          <a:xfrm>
            <a:off x="1749900" y="1194174"/>
            <a:ext cx="8692199" cy="46440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A13E80-51F8-262B-10BC-134E86D07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life of a task: Pull request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CCA7F6E-2DA1-308D-8AD1-BB1508CF2A92}"/>
              </a:ext>
            </a:extLst>
          </p:cNvPr>
          <p:cNvSpPr/>
          <p:nvPr/>
        </p:nvSpPr>
        <p:spPr>
          <a:xfrm>
            <a:off x="2285997" y="3128591"/>
            <a:ext cx="7570521" cy="340126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B38A0F-6C86-3AAC-3337-C7A383760436}"/>
              </a:ext>
            </a:extLst>
          </p:cNvPr>
          <p:cNvSpPr/>
          <p:nvPr/>
        </p:nvSpPr>
        <p:spPr>
          <a:xfrm>
            <a:off x="7493191" y="2529444"/>
            <a:ext cx="1270800" cy="201881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47A6C7-CEAA-54D8-6803-322C52FECB18}"/>
              </a:ext>
            </a:extLst>
          </p:cNvPr>
          <p:cNvSpPr/>
          <p:nvPr/>
        </p:nvSpPr>
        <p:spPr>
          <a:xfrm>
            <a:off x="3918861" y="1992380"/>
            <a:ext cx="914396" cy="45720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83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553AE-4166-9842-0298-8790CFAFC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62D881-318D-F9E2-FCE9-1829287E8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950" y="1280109"/>
            <a:ext cx="8446349" cy="45197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D1F765-3214-9027-B941-B0CDDE906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life of a task: Pull request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B66D463-DFF7-53E0-2EA5-675F5270148D}"/>
              </a:ext>
            </a:extLst>
          </p:cNvPr>
          <p:cNvSpPr/>
          <p:nvPr/>
        </p:nvSpPr>
        <p:spPr>
          <a:xfrm>
            <a:off x="2386941" y="3116716"/>
            <a:ext cx="7374575" cy="340126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19861B-D522-33D4-61F9-89D1F29D63AA}"/>
              </a:ext>
            </a:extLst>
          </p:cNvPr>
          <p:cNvSpPr/>
          <p:nvPr/>
        </p:nvSpPr>
        <p:spPr>
          <a:xfrm>
            <a:off x="7243807" y="2541319"/>
            <a:ext cx="1235176" cy="230858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713A01-0DE0-E22C-0650-CD04789B6B24}"/>
              </a:ext>
            </a:extLst>
          </p:cNvPr>
          <p:cNvSpPr/>
          <p:nvPr/>
        </p:nvSpPr>
        <p:spPr>
          <a:xfrm>
            <a:off x="7633712" y="4434525"/>
            <a:ext cx="2460314" cy="45719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703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850DC-6242-A7EF-5ADE-E8E7C0547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A8064E-1295-6FD8-3DE1-C6E0F5BDA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38" y="1102585"/>
            <a:ext cx="7136081" cy="46528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08FB4C-F54B-6C84-6AC8-ADE9DB930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life of a task: Pull request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762CB0-B786-27C7-2324-8F93978555E6}"/>
              </a:ext>
            </a:extLst>
          </p:cNvPr>
          <p:cNvSpPr/>
          <p:nvPr/>
        </p:nvSpPr>
        <p:spPr>
          <a:xfrm>
            <a:off x="5142090" y="3060368"/>
            <a:ext cx="2276029" cy="737261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C22E60-EE82-2CF5-D072-FEBBD2AE8B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388" r="9610"/>
          <a:stretch>
            <a:fillRect/>
          </a:stretch>
        </p:blipFill>
        <p:spPr>
          <a:xfrm>
            <a:off x="7683335" y="1799207"/>
            <a:ext cx="4132613" cy="39562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0323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6F76C-574C-B379-B397-E0FFB01A4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7F546F-445B-93B9-EA16-2E2E2E3F6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242" y="1372631"/>
            <a:ext cx="9279516" cy="39003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E8DCA7-AFA4-BEA2-86BA-C1420BCE0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Again, sync your fork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F127FD-90A9-B7FE-D0E0-C72B29752B64}"/>
              </a:ext>
            </a:extLst>
          </p:cNvPr>
          <p:cNvSpPr/>
          <p:nvPr/>
        </p:nvSpPr>
        <p:spPr>
          <a:xfrm>
            <a:off x="1456242" y="2080776"/>
            <a:ext cx="1073202" cy="492524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4B81A9-24D2-43D4-A0EC-68CB296800B3}"/>
              </a:ext>
            </a:extLst>
          </p:cNvPr>
          <p:cNvSpPr/>
          <p:nvPr/>
        </p:nvSpPr>
        <p:spPr>
          <a:xfrm>
            <a:off x="6752111" y="2564394"/>
            <a:ext cx="1323109" cy="492526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75C2FCE-7581-A45F-7F63-B75AD7A61413}"/>
              </a:ext>
            </a:extLst>
          </p:cNvPr>
          <p:cNvSpPr txBox="1">
            <a:spLocks/>
          </p:cNvSpPr>
          <p:nvPr/>
        </p:nvSpPr>
        <p:spPr>
          <a:xfrm>
            <a:off x="1992843" y="5485369"/>
            <a:ext cx="8458200" cy="785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latin typeface="Andale Mono" panose="020B0509000000000004" pitchFamily="49" charset="0"/>
              </a:rPr>
              <a:t># Then in the terminal, update your local branch using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latin typeface="Andale Mono" panose="020B0509000000000004" pitchFamily="49" charset="0"/>
              </a:rPr>
              <a:t>git pull origin feature</a:t>
            </a:r>
          </a:p>
        </p:txBody>
      </p:sp>
    </p:spTree>
    <p:extLst>
      <p:ext uri="{BB962C8B-B14F-4D97-AF65-F5344CB8AC3E}">
        <p14:creationId xmlns:p14="http://schemas.microsoft.com/office/powerpoint/2010/main" val="6689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CA5E2-1913-DDB4-CC8E-5BC7BC2FE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445782-ABFC-6C4A-B806-A83E6BCC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this workflow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8290F1-ADF2-A768-36F7-8BE71A688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187" y="1234308"/>
            <a:ext cx="6450146" cy="4473469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How to develop a larger code enhancement with multiple people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Minimize merge conflicts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Effectively solve merge conflicts if they happen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How to develop small edits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344C158-5117-E90F-EBFD-FC0F77DF8377}"/>
              </a:ext>
            </a:extLst>
          </p:cNvPr>
          <p:cNvGrpSpPr/>
          <p:nvPr/>
        </p:nvGrpSpPr>
        <p:grpSpPr>
          <a:xfrm>
            <a:off x="6607910" y="1611895"/>
            <a:ext cx="5706799" cy="3820305"/>
            <a:chOff x="6607910" y="1611895"/>
            <a:chExt cx="5706799" cy="382030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8BA6658-D5CE-8A03-E5EB-2794BCCF72FC}"/>
                </a:ext>
              </a:extLst>
            </p:cNvPr>
            <p:cNvGrpSpPr/>
            <p:nvPr/>
          </p:nvGrpSpPr>
          <p:grpSpPr>
            <a:xfrm>
              <a:off x="7372954" y="2088755"/>
              <a:ext cx="2425096" cy="2327816"/>
              <a:chOff x="2584702" y="2724912"/>
              <a:chExt cx="3383276" cy="2327816"/>
            </a:xfrm>
          </p:grpSpPr>
          <p:sp>
            <p:nvSpPr>
              <p:cNvPr id="5" name="Arc 4">
                <a:extLst>
                  <a:ext uri="{FF2B5EF4-FFF2-40B4-BE49-F238E27FC236}">
                    <a16:creationId xmlns:a16="http://schemas.microsoft.com/office/drawing/2014/main" id="{0131A628-6363-AE0F-C944-B540079478BB}"/>
                  </a:ext>
                </a:extLst>
              </p:cNvPr>
              <p:cNvSpPr/>
              <p:nvPr/>
            </p:nvSpPr>
            <p:spPr>
              <a:xfrm rot="10800000">
                <a:off x="2584703" y="2724912"/>
                <a:ext cx="3383275" cy="1163908"/>
              </a:xfrm>
              <a:prstGeom prst="arc">
                <a:avLst/>
              </a:prstGeom>
              <a:ln w="635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Arc 5">
                <a:extLst>
                  <a:ext uri="{FF2B5EF4-FFF2-40B4-BE49-F238E27FC236}">
                    <a16:creationId xmlns:a16="http://schemas.microsoft.com/office/drawing/2014/main" id="{AD8877A4-018E-17CF-A2A7-F894017D191E}"/>
                  </a:ext>
                </a:extLst>
              </p:cNvPr>
              <p:cNvSpPr/>
              <p:nvPr/>
            </p:nvSpPr>
            <p:spPr>
              <a:xfrm rot="10800000" flipH="1" flipV="1">
                <a:off x="2584702" y="3888820"/>
                <a:ext cx="3383275" cy="1163908"/>
              </a:xfrm>
              <a:prstGeom prst="arc">
                <a:avLst/>
              </a:prstGeom>
              <a:ln w="635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90F3DC4-ADEE-C9F5-49F7-C85EF52541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72954" y="1711113"/>
              <a:ext cx="0" cy="3721087"/>
            </a:xfrm>
            <a:prstGeom prst="straightConnector1">
              <a:avLst/>
            </a:prstGeom>
            <a:ln w="63500">
              <a:solidFill>
                <a:schemeClr val="accent6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9EF59CE-492C-4015-7614-085EB37E00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98053" y="1711113"/>
              <a:ext cx="0" cy="3721087"/>
            </a:xfrm>
            <a:prstGeom prst="straightConnector1">
              <a:avLst/>
            </a:prstGeom>
            <a:ln w="63500">
              <a:solidFill>
                <a:schemeClr val="tx2">
                  <a:lumMod val="50000"/>
                  <a:lumOff val="50000"/>
                </a:schemeClr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89C031B-FEC3-7C77-4B7B-863E383C9567}"/>
                </a:ext>
              </a:extLst>
            </p:cNvPr>
            <p:cNvSpPr txBox="1"/>
            <p:nvPr/>
          </p:nvSpPr>
          <p:spPr>
            <a:xfrm>
              <a:off x="6607910" y="1635021"/>
              <a:ext cx="765044" cy="3776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devel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1623904-E53B-D2E1-B37B-7F61B444D6EA}"/>
                </a:ext>
              </a:extLst>
            </p:cNvPr>
            <p:cNvSpPr txBox="1"/>
            <p:nvPr/>
          </p:nvSpPr>
          <p:spPr>
            <a:xfrm>
              <a:off x="9923023" y="1611895"/>
              <a:ext cx="239168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fork:devel</a:t>
              </a:r>
              <a:endParaRPr lang="en-US" dirty="0"/>
            </a:p>
            <a:p>
              <a:r>
                <a:rPr lang="en-US" dirty="0"/>
                <a:t>or</a:t>
              </a:r>
            </a:p>
            <a:p>
              <a:r>
                <a:rPr lang="en-US" dirty="0" err="1"/>
                <a:t>fork:devel-small-edit</a:t>
              </a:r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422CD9-4CDA-90EC-0923-82FFED652D93}"/>
                </a:ext>
              </a:extLst>
            </p:cNvPr>
            <p:cNvSpPr txBox="1"/>
            <p:nvPr/>
          </p:nvSpPr>
          <p:spPr>
            <a:xfrm>
              <a:off x="7783849" y="2570456"/>
              <a:ext cx="17249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PR small feature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5B01ABF-92F2-DEB8-DB57-1841EADB1E93}"/>
                </a:ext>
              </a:extLst>
            </p:cNvPr>
            <p:cNvSpPr txBox="1"/>
            <p:nvPr/>
          </p:nvSpPr>
          <p:spPr>
            <a:xfrm>
              <a:off x="9798049" y="4000362"/>
              <a:ext cx="1566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Small updates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4498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rinceton_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inceton_theme" id="{78253210-4637-2D48-9F82-2BFC47E984C0}" vid="{8D0D0917-84AC-5041-AAA8-5474F182D93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4155</TotalTime>
  <Words>936</Words>
  <Application>Microsoft Macintosh PowerPoint</Application>
  <PresentationFormat>Widescreen</PresentationFormat>
  <Paragraphs>208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Andale Mono</vt:lpstr>
      <vt:lpstr>Aptos</vt:lpstr>
      <vt:lpstr>Arial</vt:lpstr>
      <vt:lpstr>Calibri</vt:lpstr>
      <vt:lpstr>Courier New</vt:lpstr>
      <vt:lpstr>Helvetica Neue</vt:lpstr>
      <vt:lpstr>Helvetica Neue Light</vt:lpstr>
      <vt:lpstr>Princeton_theme</vt:lpstr>
      <vt:lpstr>SPECFEM++ Git Development Workflow</vt:lpstr>
      <vt:lpstr>Documentation</vt:lpstr>
      <vt:lpstr>Implementing a new medium</vt:lpstr>
      <vt:lpstr>Goal of this workflow</vt:lpstr>
      <vt:lpstr>Branch Structure in SPECFEM++</vt:lpstr>
      <vt:lpstr>Branch Structure in SPECFEM++</vt:lpstr>
      <vt:lpstr>Get the code</vt:lpstr>
      <vt:lpstr>Get the code</vt:lpstr>
      <vt:lpstr>Get the code</vt:lpstr>
      <vt:lpstr>The life of a task: Branches</vt:lpstr>
      <vt:lpstr>Always sync your fork</vt:lpstr>
      <vt:lpstr>The life of a task: The work</vt:lpstr>
      <vt:lpstr>The life of a task: Merge conflict</vt:lpstr>
      <vt:lpstr>The life of a task: Pull request</vt:lpstr>
      <vt:lpstr>The life of a task: Pull request</vt:lpstr>
      <vt:lpstr>The life of a task: Pull request</vt:lpstr>
      <vt:lpstr>Again, sync your fork</vt:lpstr>
      <vt:lpstr>Goal of this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R Kakodkar</dc:creator>
  <cp:lastModifiedBy>Lucas Sawade</cp:lastModifiedBy>
  <cp:revision>14</cp:revision>
  <dcterms:created xsi:type="dcterms:W3CDTF">2025-05-08T00:14:53Z</dcterms:created>
  <dcterms:modified xsi:type="dcterms:W3CDTF">2025-07-29T17:47:28Z</dcterms:modified>
</cp:coreProperties>
</file>